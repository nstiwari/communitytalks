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74"/>
  </p:notesMasterIdLst>
  <p:sldIdLst>
    <p:sldId id="453" r:id="rId2"/>
    <p:sldId id="452" r:id="rId3"/>
    <p:sldId id="479" r:id="rId4"/>
    <p:sldId id="480" r:id="rId5"/>
    <p:sldId id="481" r:id="rId6"/>
    <p:sldId id="482" r:id="rId7"/>
    <p:sldId id="483" r:id="rId8"/>
    <p:sldId id="484" r:id="rId9"/>
    <p:sldId id="485" r:id="rId10"/>
    <p:sldId id="486" r:id="rId11"/>
    <p:sldId id="487" r:id="rId12"/>
    <p:sldId id="488" r:id="rId13"/>
    <p:sldId id="489" r:id="rId14"/>
    <p:sldId id="490" r:id="rId15"/>
    <p:sldId id="491" r:id="rId16"/>
    <p:sldId id="492" r:id="rId17"/>
    <p:sldId id="493" r:id="rId18"/>
    <p:sldId id="494" r:id="rId19"/>
    <p:sldId id="495" r:id="rId20"/>
    <p:sldId id="496" r:id="rId21"/>
    <p:sldId id="497" r:id="rId22"/>
    <p:sldId id="498" r:id="rId23"/>
    <p:sldId id="258" r:id="rId24"/>
    <p:sldId id="284" r:id="rId25"/>
    <p:sldId id="260" r:id="rId26"/>
    <p:sldId id="302" r:id="rId27"/>
    <p:sldId id="301" r:id="rId28"/>
    <p:sldId id="304" r:id="rId29"/>
    <p:sldId id="306" r:id="rId30"/>
    <p:sldId id="259" r:id="rId31"/>
    <p:sldId id="303" r:id="rId32"/>
    <p:sldId id="286" r:id="rId33"/>
    <p:sldId id="307" r:id="rId34"/>
    <p:sldId id="312" r:id="rId35"/>
    <p:sldId id="308" r:id="rId36"/>
    <p:sldId id="309" r:id="rId37"/>
    <p:sldId id="310" r:id="rId38"/>
    <p:sldId id="311" r:id="rId39"/>
    <p:sldId id="293" r:id="rId40"/>
    <p:sldId id="281" r:id="rId41"/>
    <p:sldId id="499" r:id="rId42"/>
    <p:sldId id="375" r:id="rId43"/>
    <p:sldId id="433" r:id="rId44"/>
    <p:sldId id="380" r:id="rId45"/>
    <p:sldId id="432" r:id="rId46"/>
    <p:sldId id="381" r:id="rId47"/>
    <p:sldId id="434" r:id="rId48"/>
    <p:sldId id="428" r:id="rId49"/>
    <p:sldId id="458" r:id="rId50"/>
    <p:sldId id="460" r:id="rId51"/>
    <p:sldId id="444" r:id="rId52"/>
    <p:sldId id="441" r:id="rId53"/>
    <p:sldId id="451" r:id="rId54"/>
    <p:sldId id="459" r:id="rId55"/>
    <p:sldId id="463" r:id="rId56"/>
    <p:sldId id="466" r:id="rId57"/>
    <p:sldId id="467" r:id="rId58"/>
    <p:sldId id="465" r:id="rId59"/>
    <p:sldId id="461" r:id="rId60"/>
    <p:sldId id="468" r:id="rId61"/>
    <p:sldId id="478" r:id="rId62"/>
    <p:sldId id="475" r:id="rId63"/>
    <p:sldId id="476" r:id="rId64"/>
    <p:sldId id="477" r:id="rId65"/>
    <p:sldId id="469" r:id="rId66"/>
    <p:sldId id="470" r:id="rId67"/>
    <p:sldId id="471" r:id="rId68"/>
    <p:sldId id="472" r:id="rId69"/>
    <p:sldId id="474" r:id="rId70"/>
    <p:sldId id="462" r:id="rId71"/>
    <p:sldId id="424" r:id="rId72"/>
    <p:sldId id="272" r:id="rId73"/>
  </p:sldIdLst>
  <p:sldSz cx="24384000" cy="13716000"/>
  <p:notesSz cx="6858000" cy="9144000"/>
  <p:embeddedFontLst>
    <p:embeddedFont>
      <p:font typeface="Google Sans" panose="020B0604020202020204" charset="0"/>
      <p:regular r:id="rId75"/>
      <p:bold r:id="rId76"/>
      <p:italic r:id="rId77"/>
      <p:boldItalic r:id="rId7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974">
          <p15:clr>
            <a:srgbClr val="A4A3A4"/>
          </p15:clr>
        </p15:guide>
        <p15:guide id="2" pos="5760">
          <p15:clr>
            <a:srgbClr val="9AA0A6"/>
          </p15:clr>
        </p15:guide>
        <p15:guide id="3" orient="horz" pos="3817">
          <p15:clr>
            <a:srgbClr val="9AA0A6"/>
          </p15:clr>
        </p15:guide>
        <p15:guide id="4" orient="horz" pos="576">
          <p15:clr>
            <a:srgbClr val="9AA0A6"/>
          </p15:clr>
        </p15:guide>
        <p15:guide id="5" orient="horz" pos="3358">
          <p15:clr>
            <a:srgbClr val="9AA0A6"/>
          </p15:clr>
        </p15:guide>
        <p15:guide id="6" pos="2446">
          <p15:clr>
            <a:srgbClr val="9AA0A6"/>
          </p15:clr>
        </p15:guide>
        <p15:guide id="7" pos="521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82FB"/>
    <a:srgbClr val="EA4335"/>
    <a:srgbClr val="DDF0C8"/>
    <a:srgbClr val="D1B2E8"/>
    <a:srgbClr val="FCD5AA"/>
    <a:srgbClr val="FB9729"/>
    <a:srgbClr val="FB9321"/>
    <a:srgbClr val="FDDFBF"/>
    <a:srgbClr val="FAB160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8" autoAdjust="0"/>
    <p:restoredTop sz="94660"/>
  </p:normalViewPr>
  <p:slideViewPr>
    <p:cSldViewPr snapToGrid="0">
      <p:cViewPr varScale="1">
        <p:scale>
          <a:sx n="30" d="100"/>
          <a:sy n="30" d="100"/>
        </p:scale>
        <p:origin x="888" y="24"/>
      </p:cViewPr>
      <p:guideLst>
        <p:guide pos="974"/>
        <p:guide pos="5760"/>
        <p:guide orient="horz" pos="3817"/>
        <p:guide orient="horz" pos="576"/>
        <p:guide orient="horz" pos="3358"/>
        <p:guide pos="2446"/>
        <p:guide pos="52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font" Target="fonts/font1.fntdata"/><Relationship Id="rId76" Type="http://schemas.openxmlformats.org/officeDocument/2006/relationships/font" Target="fonts/font2.fntdata"/><Relationship Id="rId77" Type="http://schemas.openxmlformats.org/officeDocument/2006/relationships/font" Target="fonts/font3.fntdata"/><Relationship Id="rId78" Type="http://schemas.openxmlformats.org/officeDocument/2006/relationships/font" Target="fonts/font4.fntdata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marR="0" lvl="1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marR="0" lvl="5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marR="0" lvl="6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marR="0" lvl="7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marR="0" lvl="8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62fc528f49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4" name="Google Shape;74;g62fc528f49_1_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4492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the room: who used Gemini or ChatGPT this week? Everyone. Let's see what is behind it.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animation: each dot is an email. The line is the AI's rule, and it improves with training.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is not new: it has quietly powered the apps students use for years.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idea: LLMs pick likely words. Likely is not always true, which matters for Challenges later.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Imagen = images, Veo = video, Lyria = music: all Google models, also used in Part 2.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AI makes possible: first for you, then for the world.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card is something students can try tonight, for free.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projects, not science fiction.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New roles appear, and existing roles (doctor, teacher, designer) change.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Powerful tools need careful use. Four things every student should know.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Link back to next-word prediction: the model is fluent, not always factual.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Reuters, October 2018.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Simple rule for students: pause, check the source, then share.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habits for responsible everyday use.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Where AI came from, and where it is going next.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75 years in one line. The pace is accelerating: notice the gap between dots shrinking.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already in early products today.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 Part 1 with action: every card is something to try this week.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Sketch2Runway slides are inserted after this divider by insert_sketch2runway.ps1.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40537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B998A510-C194-8285-EF38-A40988E6D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>
            <a:extLst>
              <a:ext uri="{FF2B5EF4-FFF2-40B4-BE49-F238E27FC236}">
                <a16:creationId xmlns:a16="http://schemas.microsoft.com/office/drawing/2014/main" id="{EB0CA9E7-AE9D-00F6-C1EC-EC3F34A53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4:notes">
            <a:extLst>
              <a:ext uri="{FF2B5EF4-FFF2-40B4-BE49-F238E27FC236}">
                <a16:creationId xmlns:a16="http://schemas.microsoft.com/office/drawing/2014/main" id="{3F8412C7-C806-2979-E033-6CFA097F2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84438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53151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747761D1-D2FF-82A8-6E6C-0966B4614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>
            <a:extLst>
              <a:ext uri="{FF2B5EF4-FFF2-40B4-BE49-F238E27FC236}">
                <a16:creationId xmlns:a16="http://schemas.microsoft.com/office/drawing/2014/main" id="{BF287A25-BC83-C1FE-4FD6-48894D6BE2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4:notes">
            <a:extLst>
              <a:ext uri="{FF2B5EF4-FFF2-40B4-BE49-F238E27FC236}">
                <a16:creationId xmlns:a16="http://schemas.microsoft.com/office/drawing/2014/main" id="{B7FCAB59-3C23-F537-FFFC-819420F25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23553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6937AF0-661C-C85B-9A1C-77BC6378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>
            <a:extLst>
              <a:ext uri="{FF2B5EF4-FFF2-40B4-BE49-F238E27FC236}">
                <a16:creationId xmlns:a16="http://schemas.microsoft.com/office/drawing/2014/main" id="{55AF9662-A240-9BC1-3A03-EB7444471C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>
            <a:extLst>
              <a:ext uri="{FF2B5EF4-FFF2-40B4-BE49-F238E27FC236}">
                <a16:creationId xmlns:a16="http://schemas.microsoft.com/office/drawing/2014/main" id="{1AEAB371-F54E-7B44-665B-8188CBF46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12692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A240A77-CBAC-7AE0-E5F1-C7150DFD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>
            <a:extLst>
              <a:ext uri="{FF2B5EF4-FFF2-40B4-BE49-F238E27FC236}">
                <a16:creationId xmlns:a16="http://schemas.microsoft.com/office/drawing/2014/main" id="{04219066-F94B-D44A-A33F-556133C64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>
            <a:extLst>
              <a:ext uri="{FF2B5EF4-FFF2-40B4-BE49-F238E27FC236}">
                <a16:creationId xmlns:a16="http://schemas.microsoft.com/office/drawing/2014/main" id="{F34A4562-DD5F-2F9A-EDC9-4183E9CC77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83426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A68F010-39EA-CACD-8098-1C58C08DA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>
            <a:extLst>
              <a:ext uri="{FF2B5EF4-FFF2-40B4-BE49-F238E27FC236}">
                <a16:creationId xmlns:a16="http://schemas.microsoft.com/office/drawing/2014/main" id="{00EAF088-FCE8-28F4-463A-53DBE10850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>
            <a:extLst>
              <a:ext uri="{FF2B5EF4-FFF2-40B4-BE49-F238E27FC236}">
                <a16:creationId xmlns:a16="http://schemas.microsoft.com/office/drawing/2014/main" id="{DB32207F-A2BB-C52E-5DD4-B7FC3E6D95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31002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74201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B57335E-09EA-564A-6911-222BDCE62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>
            <a:extLst>
              <a:ext uri="{FF2B5EF4-FFF2-40B4-BE49-F238E27FC236}">
                <a16:creationId xmlns:a16="http://schemas.microsoft.com/office/drawing/2014/main" id="{8B6A6E50-922B-B74B-9530-E48E3B2872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>
            <a:extLst>
              <a:ext uri="{FF2B5EF4-FFF2-40B4-BE49-F238E27FC236}">
                <a16:creationId xmlns:a16="http://schemas.microsoft.com/office/drawing/2014/main" id="{14F87269-464C-5085-5848-B3B0F318A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01728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9E0A93A5-00EB-D40D-8BE0-DC90328C8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>
            <a:extLst>
              <a:ext uri="{FF2B5EF4-FFF2-40B4-BE49-F238E27FC236}">
                <a16:creationId xmlns:a16="http://schemas.microsoft.com/office/drawing/2014/main" id="{F1B2A5FC-E23A-8A79-5024-58CED4AEB9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4:notes">
            <a:extLst>
              <a:ext uri="{FF2B5EF4-FFF2-40B4-BE49-F238E27FC236}">
                <a16:creationId xmlns:a16="http://schemas.microsoft.com/office/drawing/2014/main" id="{A2649214-4EE5-835D-F116-A1B44B24F6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10940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8114D3A-CF61-9023-7368-BAF45D785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>
            <a:extLst>
              <a:ext uri="{FF2B5EF4-FFF2-40B4-BE49-F238E27FC236}">
                <a16:creationId xmlns:a16="http://schemas.microsoft.com/office/drawing/2014/main" id="{E71C2143-39FB-251F-7D7A-1A8CCB234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>
            <a:extLst>
              <a:ext uri="{FF2B5EF4-FFF2-40B4-BE49-F238E27FC236}">
                <a16:creationId xmlns:a16="http://schemas.microsoft.com/office/drawing/2014/main" id="{6B74E7F4-DB20-F5C2-310E-FADE7D0575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34268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81266CC-696F-FD09-BD4D-8037DEB56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>
            <a:extLst>
              <a:ext uri="{FF2B5EF4-FFF2-40B4-BE49-F238E27FC236}">
                <a16:creationId xmlns:a16="http://schemas.microsoft.com/office/drawing/2014/main" id="{8CFEA3AB-21E1-C1E5-0869-C17DC55767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>
            <a:extLst>
              <a:ext uri="{FF2B5EF4-FFF2-40B4-BE49-F238E27FC236}">
                <a16:creationId xmlns:a16="http://schemas.microsoft.com/office/drawing/2014/main" id="{EF218CD5-5380-BF18-B94D-E633D764BA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69110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C21A868-C011-6004-B79F-8D58BD0B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>
            <a:extLst>
              <a:ext uri="{FF2B5EF4-FFF2-40B4-BE49-F238E27FC236}">
                <a16:creationId xmlns:a16="http://schemas.microsoft.com/office/drawing/2014/main" id="{44DB7103-3A16-12E1-4A31-5C047756BF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>
            <a:extLst>
              <a:ext uri="{FF2B5EF4-FFF2-40B4-BE49-F238E27FC236}">
                <a16:creationId xmlns:a16="http://schemas.microsoft.com/office/drawing/2014/main" id="{D1E27B86-FEB2-884C-5A4B-3FDCB09240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07131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B49A89C8-29DA-B7F3-E977-6E3E42438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>
            <a:extLst>
              <a:ext uri="{FF2B5EF4-FFF2-40B4-BE49-F238E27FC236}">
                <a16:creationId xmlns:a16="http://schemas.microsoft.com/office/drawing/2014/main" id="{B95ED4DC-F8BF-0765-487A-46309BD98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4:notes">
            <a:extLst>
              <a:ext uri="{FF2B5EF4-FFF2-40B4-BE49-F238E27FC236}">
                <a16:creationId xmlns:a16="http://schemas.microsoft.com/office/drawing/2014/main" id="{B0EA8A95-654F-8E1B-A2F0-EAC5745B0D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45600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2E6F02F-D003-D03C-BC7E-83217991B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>
            <a:extLst>
              <a:ext uri="{FF2B5EF4-FFF2-40B4-BE49-F238E27FC236}">
                <a16:creationId xmlns:a16="http://schemas.microsoft.com/office/drawing/2014/main" id="{1C48F251-5A28-38DB-6DF9-CA5C8D497E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>
            <a:extLst>
              <a:ext uri="{FF2B5EF4-FFF2-40B4-BE49-F238E27FC236}">
                <a16:creationId xmlns:a16="http://schemas.microsoft.com/office/drawing/2014/main" id="{932854DF-F62C-45DF-805F-F8C0E1D6B7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06672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3428470-11DC-9648-84B5-6F9C15AD4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>
            <a:extLst>
              <a:ext uri="{FF2B5EF4-FFF2-40B4-BE49-F238E27FC236}">
                <a16:creationId xmlns:a16="http://schemas.microsoft.com/office/drawing/2014/main" id="{0D02EB5D-CC34-1EC9-A4E2-BB12023823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>
            <a:extLst>
              <a:ext uri="{FF2B5EF4-FFF2-40B4-BE49-F238E27FC236}">
                <a16:creationId xmlns:a16="http://schemas.microsoft.com/office/drawing/2014/main" id="{44F81ED5-EE2C-09C5-BFF1-ECE4D39156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45397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7BC8877A-45D5-0A20-4F07-C705E0E36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>
            <a:extLst>
              <a:ext uri="{FF2B5EF4-FFF2-40B4-BE49-F238E27FC236}">
                <a16:creationId xmlns:a16="http://schemas.microsoft.com/office/drawing/2014/main" id="{29AE1A7A-4D79-7274-639B-E87A32C7C5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4:notes">
            <a:extLst>
              <a:ext uri="{FF2B5EF4-FFF2-40B4-BE49-F238E27FC236}">
                <a16:creationId xmlns:a16="http://schemas.microsoft.com/office/drawing/2014/main" id="{EA912D68-05D3-9396-2EDF-5987CA557E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78814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75122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WebGemma slides follow unchanged.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58594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2fc528f49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9" name="Google Shape;229;g62fc528f49_5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8338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50836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527801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135705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563860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2fc528f49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9" name="Google Shape;229;g62fc528f49_5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439306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41959246-9E94-6D40-3C31-73DB204CA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>
            <a:extLst>
              <a:ext uri="{FF2B5EF4-FFF2-40B4-BE49-F238E27FC236}">
                <a16:creationId xmlns:a16="http://schemas.microsoft.com/office/drawing/2014/main" id="{D6F84DB1-980F-E3A7-1F78-78EEE6D4FE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>
            <a:extLst>
              <a:ext uri="{FF2B5EF4-FFF2-40B4-BE49-F238E27FC236}">
                <a16:creationId xmlns:a16="http://schemas.microsoft.com/office/drawing/2014/main" id="{DEE6835B-660F-693D-3F42-187F6B702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25563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EFC23562-CB95-C098-C8C2-714C1092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>
            <a:extLst>
              <a:ext uri="{FF2B5EF4-FFF2-40B4-BE49-F238E27FC236}">
                <a16:creationId xmlns:a16="http://schemas.microsoft.com/office/drawing/2014/main" id="{43EBDD00-00C4-91E3-490C-45FA4C245A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>
            <a:extLst>
              <a:ext uri="{FF2B5EF4-FFF2-40B4-BE49-F238E27FC236}">
                <a16:creationId xmlns:a16="http://schemas.microsoft.com/office/drawing/2014/main" id="{15BC52ED-E1A3-7F9B-1015-AF0C9A6151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104632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814502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348154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03851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>
          <a:extLst>
            <a:ext uri="{FF2B5EF4-FFF2-40B4-BE49-F238E27FC236}">
              <a16:creationId xmlns:a16="http://schemas.microsoft.com/office/drawing/2014/main" id="{1A1E2FCE-42ED-B638-C930-354B5F266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2fc528f49_5_0:notes">
            <a:extLst>
              <a:ext uri="{FF2B5EF4-FFF2-40B4-BE49-F238E27FC236}">
                <a16:creationId xmlns:a16="http://schemas.microsoft.com/office/drawing/2014/main" id="{051D2241-DF88-A4A0-A0A5-C003BE5369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9" name="Google Shape;229;g62fc528f49_5_0:notes">
            <a:extLst>
              <a:ext uri="{FF2B5EF4-FFF2-40B4-BE49-F238E27FC236}">
                <a16:creationId xmlns:a16="http://schemas.microsoft.com/office/drawing/2014/main" id="{642B06BD-EA73-0305-165B-8247593F09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669311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25A2C32E-A82C-AD02-856B-181959B83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>
            <a:extLst>
              <a:ext uri="{FF2B5EF4-FFF2-40B4-BE49-F238E27FC236}">
                <a16:creationId xmlns:a16="http://schemas.microsoft.com/office/drawing/2014/main" id="{06193E40-5A5A-52ED-F644-C632179C5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>
            <a:extLst>
              <a:ext uri="{FF2B5EF4-FFF2-40B4-BE49-F238E27FC236}">
                <a16:creationId xmlns:a16="http://schemas.microsoft.com/office/drawing/2014/main" id="{C741EFED-C1BC-0E73-8450-410B6665B6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630084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B10EA6F2-E7A1-A6F2-723B-35E51A810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>
            <a:extLst>
              <a:ext uri="{FF2B5EF4-FFF2-40B4-BE49-F238E27FC236}">
                <a16:creationId xmlns:a16="http://schemas.microsoft.com/office/drawing/2014/main" id="{13283594-1BA9-6721-EE05-AC10B80F32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>
            <a:extLst>
              <a:ext uri="{FF2B5EF4-FFF2-40B4-BE49-F238E27FC236}">
                <a16:creationId xmlns:a16="http://schemas.microsoft.com/office/drawing/2014/main" id="{6436987E-3697-7FCB-6250-9FF37867B1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98689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5DD06AA4-33FB-A33F-9D66-4F4D90BAF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>
            <a:extLst>
              <a:ext uri="{FF2B5EF4-FFF2-40B4-BE49-F238E27FC236}">
                <a16:creationId xmlns:a16="http://schemas.microsoft.com/office/drawing/2014/main" id="{E27A2C46-F34D-3EA5-B5EE-9B40BFFF3A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>
            <a:extLst>
              <a:ext uri="{FF2B5EF4-FFF2-40B4-BE49-F238E27FC236}">
                <a16:creationId xmlns:a16="http://schemas.microsoft.com/office/drawing/2014/main" id="{F4B07590-EC7F-BDCC-2E39-A90742EB62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160241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76817133-4533-8347-FDF9-8284B2DD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>
            <a:extLst>
              <a:ext uri="{FF2B5EF4-FFF2-40B4-BE49-F238E27FC236}">
                <a16:creationId xmlns:a16="http://schemas.microsoft.com/office/drawing/2014/main" id="{B5E09D03-D107-7F2C-BB55-0F0DE253C9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>
            <a:extLst>
              <a:ext uri="{FF2B5EF4-FFF2-40B4-BE49-F238E27FC236}">
                <a16:creationId xmlns:a16="http://schemas.microsoft.com/office/drawing/2014/main" id="{2E63DCC0-CE25-787B-1579-3D7F0B9178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705188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>
          <a:extLst>
            <a:ext uri="{FF2B5EF4-FFF2-40B4-BE49-F238E27FC236}">
              <a16:creationId xmlns:a16="http://schemas.microsoft.com/office/drawing/2014/main" id="{6789F6BA-5353-0C81-9F4D-D000A0E1C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2fc528f49_5_0:notes">
            <a:extLst>
              <a:ext uri="{FF2B5EF4-FFF2-40B4-BE49-F238E27FC236}">
                <a16:creationId xmlns:a16="http://schemas.microsoft.com/office/drawing/2014/main" id="{6DCB6E98-3867-DDBF-B548-BDFDDACB47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9" name="Google Shape;229;g62fc528f49_5_0:notes">
            <a:extLst>
              <a:ext uri="{FF2B5EF4-FFF2-40B4-BE49-F238E27FC236}">
                <a16:creationId xmlns:a16="http://schemas.microsoft.com/office/drawing/2014/main" id="{4B7FEF1B-DA83-79A7-8C94-F30D6AED1A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48733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934A2C8A-8FED-3D39-3259-5473569F2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>
            <a:extLst>
              <a:ext uri="{FF2B5EF4-FFF2-40B4-BE49-F238E27FC236}">
                <a16:creationId xmlns:a16="http://schemas.microsoft.com/office/drawing/2014/main" id="{A504D951-AEDA-145A-90A1-E6545F55C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>
            <a:extLst>
              <a:ext uri="{FF2B5EF4-FFF2-40B4-BE49-F238E27FC236}">
                <a16:creationId xmlns:a16="http://schemas.microsoft.com/office/drawing/2014/main" id="{3D6E5509-C7A6-D6D0-9443-B70BB77486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746381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1A4ECAE6-DBA6-37B2-D084-E003B5F7F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>
            <a:extLst>
              <a:ext uri="{FF2B5EF4-FFF2-40B4-BE49-F238E27FC236}">
                <a16:creationId xmlns:a16="http://schemas.microsoft.com/office/drawing/2014/main" id="{FD952773-569B-0332-9F51-6C6183658B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>
            <a:extLst>
              <a:ext uri="{FF2B5EF4-FFF2-40B4-BE49-F238E27FC236}">
                <a16:creationId xmlns:a16="http://schemas.microsoft.com/office/drawing/2014/main" id="{2AD76E76-0D1D-A598-9773-1799379561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539616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32DB961F-96DB-518F-DD27-8D7F81154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>
            <a:extLst>
              <a:ext uri="{FF2B5EF4-FFF2-40B4-BE49-F238E27FC236}">
                <a16:creationId xmlns:a16="http://schemas.microsoft.com/office/drawing/2014/main" id="{67967C90-1D4F-3896-2A37-3115BB9B43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>
            <a:extLst>
              <a:ext uri="{FF2B5EF4-FFF2-40B4-BE49-F238E27FC236}">
                <a16:creationId xmlns:a16="http://schemas.microsoft.com/office/drawing/2014/main" id="{8F42B44D-AC31-FBD3-6EF2-21F678A6AF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401903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99E5CCB3-DBBA-3393-0328-88CAF4012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>
            <a:extLst>
              <a:ext uri="{FF2B5EF4-FFF2-40B4-BE49-F238E27FC236}">
                <a16:creationId xmlns:a16="http://schemas.microsoft.com/office/drawing/2014/main" id="{EF75FE43-4093-0479-6AA2-9E9D5A411A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>
            <a:extLst>
              <a:ext uri="{FF2B5EF4-FFF2-40B4-BE49-F238E27FC236}">
                <a16:creationId xmlns:a16="http://schemas.microsoft.com/office/drawing/2014/main" id="{67DFD333-63CB-FEA9-B91D-5B76B705B6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042103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A4520E03-A85A-859E-75B0-C4A562927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>
            <a:extLst>
              <a:ext uri="{FF2B5EF4-FFF2-40B4-BE49-F238E27FC236}">
                <a16:creationId xmlns:a16="http://schemas.microsoft.com/office/drawing/2014/main" id="{71819498-294B-EF18-D138-F601683EE9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>
            <a:extLst>
              <a:ext uri="{FF2B5EF4-FFF2-40B4-BE49-F238E27FC236}">
                <a16:creationId xmlns:a16="http://schemas.microsoft.com/office/drawing/2014/main" id="{2940CA10-DF4B-A46F-59C3-4D44388B85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658655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>
          <a:extLst>
            <a:ext uri="{FF2B5EF4-FFF2-40B4-BE49-F238E27FC236}">
              <a16:creationId xmlns:a16="http://schemas.microsoft.com/office/drawing/2014/main" id="{829E576F-6EB2-098B-3BD5-F4E69738E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2fc528f49_5_0:notes">
            <a:extLst>
              <a:ext uri="{FF2B5EF4-FFF2-40B4-BE49-F238E27FC236}">
                <a16:creationId xmlns:a16="http://schemas.microsoft.com/office/drawing/2014/main" id="{E8D3FFE3-7C6D-979A-E997-B1CEB7797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9" name="Google Shape;229;g62fc528f49_5_0:notes">
            <a:extLst>
              <a:ext uri="{FF2B5EF4-FFF2-40B4-BE49-F238E27FC236}">
                <a16:creationId xmlns:a16="http://schemas.microsoft.com/office/drawing/2014/main" id="{683902F5-6A77-89AE-74F8-7EFCE7BCD0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148811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8EA6019B-9AE1-4900-4BF8-C320025F0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>
            <a:extLst>
              <a:ext uri="{FF2B5EF4-FFF2-40B4-BE49-F238E27FC236}">
                <a16:creationId xmlns:a16="http://schemas.microsoft.com/office/drawing/2014/main" id="{567B5855-7299-C632-2F17-113A369F91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>
            <a:extLst>
              <a:ext uri="{FF2B5EF4-FFF2-40B4-BE49-F238E27FC236}">
                <a16:creationId xmlns:a16="http://schemas.microsoft.com/office/drawing/2014/main" id="{E49E12E1-3625-5BBD-8742-D60401B2C5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955458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25B58FEF-D2BA-D74E-CD39-1579F30C1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>
            <a:extLst>
              <a:ext uri="{FF2B5EF4-FFF2-40B4-BE49-F238E27FC236}">
                <a16:creationId xmlns:a16="http://schemas.microsoft.com/office/drawing/2014/main" id="{372696C4-E4BA-CADE-83D3-BC4C120A41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>
            <a:extLst>
              <a:ext uri="{FF2B5EF4-FFF2-40B4-BE49-F238E27FC236}">
                <a16:creationId xmlns:a16="http://schemas.microsoft.com/office/drawing/2014/main" id="{8D0687EE-4EFC-6598-038F-E1CAD9ED37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776785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B6D699DD-ACE2-ADC0-9952-322EC7C2B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>
            <a:extLst>
              <a:ext uri="{FF2B5EF4-FFF2-40B4-BE49-F238E27FC236}">
                <a16:creationId xmlns:a16="http://schemas.microsoft.com/office/drawing/2014/main" id="{FBD8522F-050E-1841-4045-1E07B70F98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>
            <a:extLst>
              <a:ext uri="{FF2B5EF4-FFF2-40B4-BE49-F238E27FC236}">
                <a16:creationId xmlns:a16="http://schemas.microsoft.com/office/drawing/2014/main" id="{49142E77-3114-C01A-53FD-1AA21A51F7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19199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BF53FCC3-BCD7-8ABC-99EE-598161CFE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>
            <a:extLst>
              <a:ext uri="{FF2B5EF4-FFF2-40B4-BE49-F238E27FC236}">
                <a16:creationId xmlns:a16="http://schemas.microsoft.com/office/drawing/2014/main" id="{CD872763-3C49-3D9C-B444-30B066E303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>
            <a:extLst>
              <a:ext uri="{FF2B5EF4-FFF2-40B4-BE49-F238E27FC236}">
                <a16:creationId xmlns:a16="http://schemas.microsoft.com/office/drawing/2014/main" id="{76025EF5-8611-55F4-F87F-3B676F20BE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37864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>
          <a:extLst>
            <a:ext uri="{FF2B5EF4-FFF2-40B4-BE49-F238E27FC236}">
              <a16:creationId xmlns:a16="http://schemas.microsoft.com/office/drawing/2014/main" id="{BCA4516F-DB4E-D8EB-FF42-36708CF2D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2fc528f49_5_0:notes">
            <a:extLst>
              <a:ext uri="{FF2B5EF4-FFF2-40B4-BE49-F238E27FC236}">
                <a16:creationId xmlns:a16="http://schemas.microsoft.com/office/drawing/2014/main" id="{A5B001BE-E89E-9C81-6A40-B05DB6B5F2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9" name="Google Shape;229;g62fc528f49_5_0:notes">
            <a:extLst>
              <a:ext uri="{FF2B5EF4-FFF2-40B4-BE49-F238E27FC236}">
                <a16:creationId xmlns:a16="http://schemas.microsoft.com/office/drawing/2014/main" id="{20D90C20-8AA7-2CFF-024D-40BF9E52F0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490409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D7075A52-0291-0FC2-F57D-ABC9F279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fc528f49_1_2:notes">
            <a:extLst>
              <a:ext uri="{FF2B5EF4-FFF2-40B4-BE49-F238E27FC236}">
                <a16:creationId xmlns:a16="http://schemas.microsoft.com/office/drawing/2014/main" id="{B0F8B4E9-5F55-41BE-90BE-E846575BDE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8" name="Google Shape;158;g62fc528f49_1_2:notes">
            <a:extLst>
              <a:ext uri="{FF2B5EF4-FFF2-40B4-BE49-F238E27FC236}">
                <a16:creationId xmlns:a16="http://schemas.microsoft.com/office/drawing/2014/main" id="{31A244D1-5A52-2B4E-4FEC-A51DDF4B5D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380805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2fc528f49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9" name="Google Shape;229;g62fc528f49_5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Title">
  <p:cSld name="(Avoid) Title, Subtitle, Bullets_1_2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2"/>
            <a:ext cx="24383995" cy="1371599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536850" y="4556050"/>
            <a:ext cx="12287100" cy="34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0">
                <a:solidFill>
                  <a:srgbClr val="2021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/>
          </p:nvPr>
        </p:nvSpPr>
        <p:spPr>
          <a:xfrm>
            <a:off x="2536854" y="8001552"/>
            <a:ext cx="11988000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2021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20212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20212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20212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20212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20212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20212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20212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202124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3"/>
          </p:nvPr>
        </p:nvSpPr>
        <p:spPr>
          <a:xfrm>
            <a:off x="4212078" y="9764700"/>
            <a:ext cx="4184100" cy="12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9pPr>
          </a:lstStyle>
          <a:p>
            <a:endParaRPr/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575" y="1152750"/>
            <a:ext cx="8518799" cy="6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!">
  <p:cSld name="(Avoid) Title, Subtitle, Bullets_1_2_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3995" cy="1371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2941435" y="4449200"/>
            <a:ext cx="12287100" cy="34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0">
                <a:solidFill>
                  <a:srgbClr val="2021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 idx="2"/>
          </p:nvPr>
        </p:nvSpPr>
        <p:spPr>
          <a:xfrm>
            <a:off x="4616662" y="9657850"/>
            <a:ext cx="4184100" cy="12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02124"/>
                </a:solidFill>
              </a:defRPr>
            </a:lvl9pPr>
          </a:lstStyle>
          <a:p>
            <a:endParaRPr/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575" y="1152750"/>
            <a:ext cx="3464486" cy="6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, Subhead, 2-Col Bullets">
  <p:cSld name="(Avoid) Title, Subtitle, Bullets_1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2"/>
            <a:ext cx="24383995" cy="1371599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1366906" y="1128100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285F4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title" idx="2"/>
          </p:nvPr>
        </p:nvSpPr>
        <p:spPr>
          <a:xfrm>
            <a:off x="1469575" y="3104203"/>
            <a:ext cx="21862800" cy="13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1598150" y="4832775"/>
            <a:ext cx="8437800" cy="57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●"/>
              <a:defRPr>
                <a:solidFill>
                  <a:srgbClr val="3F3F3F"/>
                </a:solidFill>
              </a:defRPr>
            </a:lvl1pPr>
            <a:lvl2pPr marL="914400" lvl="1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○"/>
              <a:defRPr>
                <a:solidFill>
                  <a:srgbClr val="3F3F3F"/>
                </a:solidFill>
              </a:defRPr>
            </a:lvl2pPr>
            <a:lvl3pPr marL="1371600" lvl="2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■"/>
              <a:defRPr>
                <a:solidFill>
                  <a:srgbClr val="3F3F3F"/>
                </a:solidFill>
              </a:defRPr>
            </a:lvl3pPr>
            <a:lvl4pPr marL="1828800" lvl="3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●"/>
              <a:defRPr>
                <a:solidFill>
                  <a:srgbClr val="3F3F3F"/>
                </a:solidFill>
              </a:defRPr>
            </a:lvl4pPr>
            <a:lvl5pPr marL="2286000" lvl="4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○"/>
              <a:defRPr>
                <a:solidFill>
                  <a:srgbClr val="3F3F3F"/>
                </a:solidFill>
              </a:defRPr>
            </a:lvl5pPr>
            <a:lvl6pPr marL="2743200" lvl="5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■"/>
              <a:defRPr>
                <a:solidFill>
                  <a:srgbClr val="3F3F3F"/>
                </a:solidFill>
              </a:defRPr>
            </a:lvl6pPr>
            <a:lvl7pPr marL="3200400" lvl="6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●"/>
              <a:defRPr>
                <a:solidFill>
                  <a:srgbClr val="3F3F3F"/>
                </a:solidFill>
              </a:defRPr>
            </a:lvl7pPr>
            <a:lvl8pPr marL="3657600" lvl="7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○"/>
              <a:defRPr>
                <a:solidFill>
                  <a:srgbClr val="3F3F3F"/>
                </a:solidFill>
              </a:defRPr>
            </a:lvl8pPr>
            <a:lvl9pPr marL="4114800" lvl="8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■"/>
              <a:defRPr>
                <a:solidFill>
                  <a:srgbClr val="3F3F3F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3"/>
          </p:nvPr>
        </p:nvSpPr>
        <p:spPr>
          <a:xfrm>
            <a:off x="10915400" y="4832775"/>
            <a:ext cx="8437800" cy="57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●"/>
              <a:defRPr>
                <a:solidFill>
                  <a:srgbClr val="3F3F3F"/>
                </a:solidFill>
              </a:defRPr>
            </a:lvl1pPr>
            <a:lvl2pPr marL="914400" lvl="1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○"/>
              <a:defRPr>
                <a:solidFill>
                  <a:srgbClr val="3F3F3F"/>
                </a:solidFill>
              </a:defRPr>
            </a:lvl2pPr>
            <a:lvl3pPr marL="1371600" lvl="2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■"/>
              <a:defRPr>
                <a:solidFill>
                  <a:srgbClr val="3F3F3F"/>
                </a:solidFill>
              </a:defRPr>
            </a:lvl3pPr>
            <a:lvl4pPr marL="1828800" lvl="3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●"/>
              <a:defRPr>
                <a:solidFill>
                  <a:srgbClr val="3F3F3F"/>
                </a:solidFill>
              </a:defRPr>
            </a:lvl4pPr>
            <a:lvl5pPr marL="2286000" lvl="4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○"/>
              <a:defRPr>
                <a:solidFill>
                  <a:srgbClr val="3F3F3F"/>
                </a:solidFill>
              </a:defRPr>
            </a:lvl5pPr>
            <a:lvl6pPr marL="2743200" lvl="5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■"/>
              <a:defRPr>
                <a:solidFill>
                  <a:srgbClr val="3F3F3F"/>
                </a:solidFill>
              </a:defRPr>
            </a:lvl6pPr>
            <a:lvl7pPr marL="3200400" lvl="6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●"/>
              <a:defRPr>
                <a:solidFill>
                  <a:srgbClr val="3F3F3F"/>
                </a:solidFill>
              </a:defRPr>
            </a:lvl7pPr>
            <a:lvl8pPr marL="3657600" lvl="7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○"/>
              <a:defRPr>
                <a:solidFill>
                  <a:srgbClr val="3F3F3F"/>
                </a:solidFill>
              </a:defRPr>
            </a:lvl8pPr>
            <a:lvl9pPr marL="4114800" lvl="8" indent="-482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■"/>
              <a:defRPr>
                <a:solidFill>
                  <a:srgbClr val="3F3F3F"/>
                </a:solidFill>
              </a:defRPr>
            </a:lvl9pPr>
          </a:lstStyle>
          <a:p>
            <a:endParaRPr/>
          </a:p>
        </p:txBody>
      </p:sp>
      <p:pic>
        <p:nvPicPr>
          <p:cNvPr id="35" name="Google Shape;3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825" y="12634250"/>
            <a:ext cx="2988526" cy="56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Dark">
  <p:cSld name="(Avoid) Title, Subtitle, Bullets_1_1_1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2"/>
            <a:ext cx="24383995" cy="1371599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850100" y="5171200"/>
            <a:ext cx="16709400" cy="24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rgbClr val="4285F4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title" idx="2"/>
          </p:nvPr>
        </p:nvSpPr>
        <p:spPr>
          <a:xfrm>
            <a:off x="3885317" y="8484700"/>
            <a:ext cx="12913500" cy="16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FFA65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FFA65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FFA65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FFA65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FFA65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FFA65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FFA65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FFA65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FFA65C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084600" y="3291925"/>
            <a:ext cx="18193800" cy="2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8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8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8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8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8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8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8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8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8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079349" y="7573274"/>
            <a:ext cx="16234200" cy="53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82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000"/>
              <a:buFont typeface="Google Sans"/>
              <a:buChar char="●"/>
              <a:defRPr sz="40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482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000"/>
              <a:buFont typeface="Google Sans"/>
              <a:buChar char="○"/>
              <a:defRPr sz="40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482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000"/>
              <a:buFont typeface="Google Sans"/>
              <a:buChar char="■"/>
              <a:defRPr sz="40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482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000"/>
              <a:buFont typeface="Google Sans"/>
              <a:buChar char="●"/>
              <a:defRPr sz="40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482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000"/>
              <a:buFont typeface="Google Sans"/>
              <a:buChar char="○"/>
              <a:defRPr sz="40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482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000"/>
              <a:buFont typeface="Google Sans"/>
              <a:buChar char="■"/>
              <a:defRPr sz="40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482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000"/>
              <a:buFont typeface="Google Sans"/>
              <a:buChar char="●"/>
              <a:defRPr sz="40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482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000"/>
              <a:buFont typeface="Google Sans"/>
              <a:buChar char="○"/>
              <a:defRPr sz="40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482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000"/>
              <a:buFont typeface="Google Sans"/>
              <a:buChar char="■"/>
              <a:defRPr sz="40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</p:sldLayoutIdLst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eg"/><Relationship Id="rId4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gi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gi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gi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3.png"/></Relationships>
</file>

<file path=ppt/slides/_rels/slide35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8.gif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github.com/margaretmz/sketch2runway" TargetMode="External"/><Relationship Id="rId4" Type="http://schemas.openxmlformats.org/officeDocument/2006/relationships/hyperlink" Target="https://github.com/margaretmz/sketch2runway/blob/main/Sketch2Runway.ipynb" TargetMode="External"/><Relationship Id="rId5" Type="http://schemas.openxmlformats.org/officeDocument/2006/relationships/hyperlink" Target="https://www.youtube.com/watch?v=9Bo5sEVoVQk" TargetMode="External"/><Relationship Id="rId6" Type="http://schemas.openxmlformats.org/officeDocument/2006/relationships/hyperlink" Target="https://medium.com/google-developer-experts/fashion-sketch2runway-with-gemini2flash-veo3-ced1e2776fea" TargetMode="External"/><Relationship Id="rId7" Type="http://schemas.openxmlformats.org/officeDocument/2006/relationships/hyperlink" Target="https://ai.google.dev/gemini-api/docs" TargetMode="External"/><Relationship Id="rId8" Type="http://schemas.openxmlformats.org/officeDocument/2006/relationships/hyperlink" Target="https://console.cloud.google.com/vertex-ai/studio/freeform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6.gi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7.gif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8.jpe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2.gif"/><Relationship Id="rId4" Type="http://schemas.openxmlformats.org/officeDocument/2006/relationships/image" Target="../media/image7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4.gif"/><Relationship Id="rId4" Type="http://schemas.openxmlformats.org/officeDocument/2006/relationships/hyperlink" Target="https://github.com/NSTiwari/Mobile-VisionLM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s://github.com/NSTiwari/Gemma-4-on-Browser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6.png"/><Relationship Id="rId4" Type="http://schemas.openxmlformats.org/officeDocument/2006/relationships/hyperlink" Target="https://github.com/NSTiwari/WebGemma" TargetMode="External"/><Relationship Id="rId5" Type="http://schemas.openxmlformats.org/officeDocument/2006/relationships/hyperlink" Target="https://web-gemma.vercel.app/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8.jpe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hyperlink" Target="https://github.com/NSTiwari/Gemma-4-on-TPU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hyperlink" Target="https://github.com/NSTiwari/Gemma-4-on-Browser" TargetMode="External"/><Relationship Id="rId4" Type="http://schemas.openxmlformats.org/officeDocument/2006/relationships/hyperlink" Target="https://github.com/google-gemini/gemma-cookbook" TargetMode="External"/><Relationship Id="rId5" Type="http://schemas.openxmlformats.org/officeDocument/2006/relationships/hyperlink" Target="https://ai.google.dev/gemma/docs/core/model_card_4" TargetMode="External"/><Relationship Id="rId6" Type="http://schemas.openxmlformats.org/officeDocument/2006/relationships/hyperlink" Target="https://medium.com/google-developer-experts/serve-and-inference-gemma-4-on-tpu-ae7da212ddd4" TargetMode="External"/><Relationship Id="rId7" Type="http://schemas.openxmlformats.org/officeDocument/2006/relationships/hyperlink" Target="https://ai.google.dev/edge" TargetMode="Externa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E3FDC1-3239-DD98-215E-6859B6BAE08F}"/>
              </a:ext>
            </a:extLst>
          </p:cNvPr>
          <p:cNvSpPr/>
          <p:nvPr/>
        </p:nvSpPr>
        <p:spPr>
          <a:xfrm>
            <a:off x="16369991" y="3122341"/>
            <a:ext cx="8036312" cy="9503666"/>
          </a:xfrm>
          <a:prstGeom prst="rect">
            <a:avLst/>
          </a:prstGeom>
          <a:solidFill>
            <a:srgbClr val="2B82FB"/>
          </a:solidFill>
          <a:ln>
            <a:solidFill>
              <a:srgbClr val="2B82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Google Shape;77;p16">
            <a:extLst>
              <a:ext uri="{FF2B5EF4-FFF2-40B4-BE49-F238E27FC236}">
                <a16:creationId xmlns:a16="http://schemas.microsoft.com/office/drawing/2014/main" id="{3D4F7C79-3FC4-2600-82F7-FBA7C04E62F4}"/>
              </a:ext>
            </a:extLst>
          </p:cNvPr>
          <p:cNvSpPr txBox="1">
            <a:spLocks/>
          </p:cNvSpPr>
          <p:nvPr/>
        </p:nvSpPr>
        <p:spPr>
          <a:xfrm>
            <a:off x="16503805" y="10819037"/>
            <a:ext cx="8522615" cy="178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r>
              <a:rPr lang="en-US" sz="3200" b="1" dirty="0">
                <a:solidFill>
                  <a:schemeClr val="bg1"/>
                </a:solidFill>
              </a:rPr>
              <a:t>Nitin Tiwari</a:t>
            </a:r>
          </a:p>
          <a:p>
            <a:r>
              <a:rPr lang="en-US" sz="2800" dirty="0">
                <a:solidFill>
                  <a:schemeClr val="bg1"/>
                </a:solidFill>
              </a:rPr>
              <a:t>Google Developer Expert – Machine Learning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Lead Data Scientist @ Zelar</a:t>
            </a:r>
          </a:p>
        </p:txBody>
      </p:sp>
      <p:pic>
        <p:nvPicPr>
          <p:cNvPr id="1026" name="Picture 2" descr="profile image">
            <a:extLst>
              <a:ext uri="{FF2B5EF4-FFF2-40B4-BE49-F238E27FC236}">
                <a16:creationId xmlns:a16="http://schemas.microsoft.com/office/drawing/2014/main" id="{2C03AD35-5488-171C-FAAB-FE8C42C74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7687" y="2965283"/>
            <a:ext cx="8058615" cy="7785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76;p16">
            <a:extLst>
              <a:ext uri="{FF2B5EF4-FFF2-40B4-BE49-F238E27FC236}">
                <a16:creationId xmlns:a16="http://schemas.microsoft.com/office/drawing/2014/main" id="{8D241458-9757-6D1D-435D-A915CED952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6687" y="4716150"/>
            <a:ext cx="13736759" cy="2141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2B82FB"/>
                </a:solidFill>
              </a:rPr>
              <a:t>The World in the Age of AI: </a:t>
            </a:r>
            <a:br>
              <a:rPr lang="en-US" sz="5400" dirty="0">
                <a:solidFill>
                  <a:srgbClr val="2B82FB"/>
                </a:solidFill>
              </a:rPr>
            </a:br>
            <a:r>
              <a:rPr lang="en-US" sz="4800" dirty="0">
                <a:solidFill>
                  <a:srgbClr val="2B82FB"/>
                </a:solidFill>
              </a:rPr>
              <a:t>Opportunities, Challenges, and the Future</a:t>
            </a:r>
            <a:endParaRPr sz="5400" dirty="0">
              <a:solidFill>
                <a:srgbClr val="2B82FB"/>
              </a:solidFill>
            </a:endParaRPr>
          </a:p>
        </p:txBody>
      </p:sp>
      <p:pic>
        <p:nvPicPr>
          <p:cNvPr id="1028" name="Picture 4" descr="Gemma (Google) Logo Free Download SV... · LobeHub">
            <a:extLst>
              <a:ext uri="{FF2B5EF4-FFF2-40B4-BE49-F238E27FC236}">
                <a16:creationId xmlns:a16="http://schemas.microsoft.com/office/drawing/2014/main" id="{44F8B381-4EAA-5FE2-712D-B29EC1995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557" y="6660977"/>
            <a:ext cx="3844211" cy="3844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D79E886-375F-C4B1-6046-D89EB6BC394B}"/>
              </a:ext>
            </a:extLst>
          </p:cNvPr>
          <p:cNvSpPr/>
          <p:nvPr/>
        </p:nvSpPr>
        <p:spPr>
          <a:xfrm>
            <a:off x="616688" y="637953"/>
            <a:ext cx="9292856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1260600" y="1061192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/>
              <a:t>$</a:t>
            </a:r>
            <a:r>
              <a:rPr lang="en-US" sz="7200" dirty="0" err="1"/>
              <a:t>whoami</a:t>
            </a:r>
            <a:endParaRPr sz="7200" dirty="0"/>
          </a:p>
        </p:txBody>
      </p:sp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1260600" y="2880692"/>
            <a:ext cx="22603010" cy="100101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US" sz="44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Lead Data Scientist at </a:t>
            </a:r>
            <a:r>
              <a:rPr lang="en-US" sz="4400" dirty="0" err="1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Zelar</a:t>
            </a:r>
            <a:r>
              <a:rPr lang="en-US" sz="44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[Google Cloud Premier Partner]</a:t>
            </a:r>
          </a:p>
          <a:p>
            <a:pPr>
              <a:lnSpc>
                <a:spcPct val="200000"/>
              </a:lnSpc>
            </a:pPr>
            <a:r>
              <a:rPr lang="en-US" sz="44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Google Developer Expert in Machine Learning</a:t>
            </a:r>
          </a:p>
          <a:p>
            <a:pPr>
              <a:lnSpc>
                <a:spcPct val="200000"/>
              </a:lnSpc>
            </a:pPr>
            <a:r>
              <a:rPr lang="en-US" sz="44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Contributor to Google Dev Library, TensorFlow.js, Gemini and Gemma Cookbooks</a:t>
            </a:r>
          </a:p>
          <a:p>
            <a:pPr>
              <a:lnSpc>
                <a:spcPct val="200000"/>
              </a:lnSpc>
            </a:pPr>
            <a:r>
              <a:rPr lang="en-US" sz="44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Technical Speaker (talks across India, Europe, South East and Central Asia)</a:t>
            </a:r>
          </a:p>
          <a:p>
            <a:pPr>
              <a:lnSpc>
                <a:spcPct val="200000"/>
              </a:lnSpc>
            </a:pPr>
            <a:r>
              <a:rPr lang="en-US" sz="44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Love writing blogs on AI/ML</a:t>
            </a:r>
          </a:p>
          <a:p>
            <a:pPr>
              <a:lnSpc>
                <a:spcPct val="200000"/>
              </a:lnSpc>
            </a:pPr>
            <a:endParaRPr lang="en-US" sz="44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lvl="0" algn="just">
              <a:lnSpc>
                <a:spcPct val="200000"/>
              </a:lnSpc>
            </a:pPr>
            <a:endParaRPr lang="en-US" sz="44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lvl="0" algn="just">
              <a:lnSpc>
                <a:spcPct val="200000"/>
              </a:lnSpc>
            </a:pPr>
            <a:endParaRPr lang="en-US" sz="44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457200" lvl="0" indent="-482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endParaRPr lang="en-US" sz="4400" dirty="0">
              <a:solidFill>
                <a:schemeClr val="accent3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4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39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600" y="520017"/>
            <a:ext cx="21862800" cy="1138662"/>
          </a:xfrm>
        </p:spPr>
        <p:txBody>
          <a:bodyPr/>
          <a:lstStyle/>
          <a:p>
            <a:r>
              <a:rPr sz="7200">
                <a:latin typeface="Google Sans"/>
                <a:ea typeface="Google Sans"/>
                <a:cs typeface="Google Sans"/>
              </a:rPr>
              <a:t>Content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260600" y="2108122"/>
            <a:ext cx="22603010" cy="1001011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440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 Part 1: The World in the Age of AI</a:t>
            </a:r>
          </a:p>
          <a:p>
            <a:pPr marL="685800" indent="0">
              <a:lnSpc>
                <a:spcPct val="100000"/>
              </a:lnSpc>
              <a:spcAft>
                <a:spcPts val="1800"/>
              </a:spcAft>
              <a:buNone/>
            </a:pPr>
            <a:r>
              <a:rPr sz="320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What is AI  ·  Opportunities  ·  Challenges  ·  The future</a:t>
            </a:r>
          </a:p>
          <a:p>
            <a:pPr>
              <a:lnSpc>
                <a:spcPct val="150000"/>
              </a:lnSpc>
            </a:pPr>
            <a:r>
              <a:rPr sz="440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 Part 2: Sketch2Runway, Gen AI in Fashion</a:t>
            </a:r>
          </a:p>
          <a:p>
            <a:pPr marL="685800" indent="0">
              <a:lnSpc>
                <a:spcPct val="100000"/>
              </a:lnSpc>
              <a:spcAft>
                <a:spcPts val="1800"/>
              </a:spcAft>
              <a:buNone/>
            </a:pPr>
            <a:r>
              <a:rPr sz="320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From a pencil sketch to a runway video, with a live demo</a:t>
            </a:r>
          </a:p>
          <a:p>
            <a:pPr>
              <a:lnSpc>
                <a:spcPct val="150000"/>
              </a:lnSpc>
            </a:pPr>
            <a:r>
              <a:rPr sz="440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 Part 3: WebGemma, On-device AI in the Browser</a:t>
            </a:r>
          </a:p>
          <a:p>
            <a:pPr marL="685800" indent="0">
              <a:lnSpc>
                <a:spcPct val="100000"/>
              </a:lnSpc>
              <a:spcAft>
                <a:spcPts val="1800"/>
              </a:spcAft>
              <a:buNone/>
            </a:pPr>
            <a:r>
              <a:rPr sz="320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Run Gemma on your own laptop, with a hands-on session</a:t>
            </a:r>
          </a:p>
          <a:p>
            <a:pPr>
              <a:lnSpc>
                <a:spcPct val="150000"/>
              </a:lnSpc>
            </a:pPr>
            <a:r>
              <a:rPr sz="440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 Resources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51499" y="637952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1435" y="5600000"/>
            <a:ext cx="12287100" cy="2600000"/>
          </a:xfrm>
        </p:spPr>
        <p:txBody>
          <a:bodyPr anchor="ctr"/>
          <a:lstStyle/>
          <a:p>
            <a:pPr algn="ctr"/>
            <a:r>
              <a:rPr sz="7200">
                <a:solidFill>
                  <a:srgbClr val="2B82FB"/>
                </a:solidFill>
                <a:latin typeface="Google Sans"/>
                <a:ea typeface="Google Sans"/>
                <a:cs typeface="Google Sans"/>
              </a:rPr>
              <a:t>The World in the Age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4343400"/>
            <a:ext cx="12344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10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PART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495" y="380000"/>
            <a:ext cx="22600000" cy="1300000"/>
          </a:xfrm>
        </p:spPr>
        <p:txBody>
          <a:bodyPr/>
          <a:lstStyle/>
          <a:p>
            <a:r>
              <a:rPr sz="5400">
                <a:latin typeface="Google Sans"/>
                <a:ea typeface="Google Sans"/>
                <a:cs typeface="Google Sans"/>
              </a:rPr>
              <a:t>What is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2057400"/>
            <a:ext cx="12070080" cy="329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Computers that </a:t>
            </a:r>
            <a:r>
              <a:rPr sz="40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learn from examples</a:t>
            </a:r>
            <a:r>
              <a:rPr sz="4000" b="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 instead of following only rules written by people.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5715000"/>
            <a:ext cx="12070080" cy="566928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98448" y="6126480"/>
            <a:ext cx="2103120" cy="6858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Google Sans"/>
                <a:ea typeface="Google Sans"/>
                <a:cs typeface="Google Sans"/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7040880"/>
            <a:ext cx="11247119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7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Your email spam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001000"/>
            <a:ext cx="11247119" cy="3200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Nobody writes a rule for every spam email.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The AI is shown millions of spam and normal emails.</a:t>
            </a:r>
          </a:p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It learns the pattern, and keeps improving as people mark new spam.</a:t>
            </a:r>
          </a:p>
        </p:txBody>
      </p:sp>
      <p:pic>
        <p:nvPicPr>
          <p:cNvPr id="8" name="Picture 7" descr="What is AI?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3098799"/>
            <a:ext cx="10058400" cy="7152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495" y="380000"/>
            <a:ext cx="22600000" cy="1300000"/>
          </a:xfrm>
        </p:spPr>
        <p:txBody>
          <a:bodyPr/>
          <a:lstStyle/>
          <a:p>
            <a:r>
              <a:rPr sz="5400">
                <a:latin typeface="Google Sans"/>
                <a:ea typeface="Google Sans"/>
                <a:cs typeface="Google Sans"/>
              </a:rPr>
              <a:t>AI You Already Use Every 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6968" y="2377440"/>
            <a:ext cx="7117080" cy="445770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lobe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83464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44168" y="4480560"/>
            <a:ext cx="62026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Google Maps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5440680"/>
            <a:ext cx="6202680" cy="12573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Predicts traffic and finds the fastest route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5528" y="2377440"/>
            <a:ext cx="7117080" cy="4457700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onitor_EA43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728" y="283464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72728" y="4480560"/>
            <a:ext cx="62026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YouTube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2728" y="5440680"/>
            <a:ext cx="6202680" cy="12573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Recommends what to watch next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944088" y="2377440"/>
            <a:ext cx="7117080" cy="445770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eye_34A8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01288" y="2834640"/>
            <a:ext cx="1371600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01288" y="4480560"/>
            <a:ext cx="62026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Phone camera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01288" y="5440680"/>
            <a:ext cx="6202680" cy="12573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Face unlock, portrait blur, night mode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" y="7246620"/>
            <a:ext cx="7117080" cy="4457700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hat_FBBC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4168" y="7703820"/>
            <a:ext cx="137160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44168" y="9349740"/>
            <a:ext cx="62026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Gmail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10309860"/>
            <a:ext cx="6202680" cy="12573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Filters spam and suggests replies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5528" y="7246620"/>
            <a:ext cx="7117080" cy="445770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wap_34A8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2728" y="7703820"/>
            <a:ext cx="1371600" cy="1371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72728" y="9349740"/>
            <a:ext cx="62026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Google Translate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2728" y="10309860"/>
            <a:ext cx="6202680" cy="12573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Translates signs through your camera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944088" y="7246620"/>
            <a:ext cx="7117080" cy="445770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robot_4285F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01288" y="7703820"/>
            <a:ext cx="1371600" cy="1371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401288" y="9349740"/>
            <a:ext cx="62026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Gemini &amp; ChatGPT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01288" y="10309860"/>
            <a:ext cx="6202680" cy="12573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Explain, write, summarise and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495" y="380000"/>
            <a:ext cx="22600000" cy="1300000"/>
          </a:xfrm>
        </p:spPr>
        <p:txBody>
          <a:bodyPr/>
          <a:lstStyle/>
          <a:p>
            <a:r>
              <a:rPr sz="5400">
                <a:latin typeface="Google Sans"/>
                <a:ea typeface="Google Sans"/>
                <a:cs typeface="Google Sans"/>
              </a:rPr>
              <a:t>How Do Gemini and ChatGPT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2057400"/>
            <a:ext cx="12070080" cy="329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They are </a:t>
            </a:r>
            <a:r>
              <a:rPr sz="40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Large Language Models</a:t>
            </a:r>
            <a:r>
              <a:rPr sz="4000" b="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: trained on huge amounts of text to </a:t>
            </a:r>
            <a:r>
              <a:rPr sz="40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predict the next word</a:t>
            </a:r>
            <a:r>
              <a:rPr sz="4000" b="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, one word at a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5715000"/>
            <a:ext cx="12070080" cy="5669280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98448" y="6126480"/>
            <a:ext cx="2103120" cy="6858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Google Sans"/>
                <a:ea typeface="Google Sans"/>
                <a:cs typeface="Google Sans"/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7040880"/>
            <a:ext cx="11247119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7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Autocomplete, supercharged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001000"/>
            <a:ext cx="11247119" cy="3200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“The capital of France is…” → Paris (92% likely).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Then it predicts the next word, and the next.</a:t>
            </a:r>
          </a:p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Repeat a few hundred times and you get an essay, a poem or working code.</a:t>
            </a:r>
          </a:p>
        </p:txBody>
      </p:sp>
      <p:pic>
        <p:nvPicPr>
          <p:cNvPr id="8" name="Picture 7" descr="How Do Gemini and ChatGPT Work?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3931920"/>
            <a:ext cx="10058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495" y="380000"/>
            <a:ext cx="22600000" cy="1300000"/>
          </a:xfrm>
        </p:spPr>
        <p:txBody>
          <a:bodyPr/>
          <a:lstStyle/>
          <a:p>
            <a:r>
              <a:rPr sz="5400">
                <a:latin typeface="Google Sans"/>
                <a:ea typeface="Google Sans"/>
                <a:cs typeface="Google Sans"/>
              </a:rPr>
              <a:t>Generative AI: Creating Something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2057400"/>
            <a:ext cx="12070080" cy="329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AI that </a:t>
            </a:r>
            <a:r>
              <a:rPr sz="40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creates</a:t>
            </a:r>
            <a:r>
              <a:rPr sz="4000" b="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 new text, images, video, music and code from a simple prompt.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5715000"/>
            <a:ext cx="12070080" cy="56692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98448" y="6126480"/>
            <a:ext cx="2103120" cy="6858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Google Sans"/>
                <a:ea typeface="Google Sans"/>
                <a:cs typeface="Google Sans"/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7040880"/>
            <a:ext cx="11247119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7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One idea, five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001000"/>
            <a:ext cx="11247119" cy="3200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Prompt: “A robot dancing in the rain”.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Gemini writes the story, Imagen draws the poster, Veo makes the video and Lyria composes the song.</a:t>
            </a:r>
          </a:p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Part 2 shows this for fashion: Sketch2Runway.</a:t>
            </a:r>
          </a:p>
        </p:txBody>
      </p:sp>
      <p:pic>
        <p:nvPicPr>
          <p:cNvPr id="8" name="Picture 7" descr="Generative AI: Creating Something N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3456432"/>
            <a:ext cx="10058400" cy="6437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51499" y="637952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1435" y="5600000"/>
            <a:ext cx="12287100" cy="2600000"/>
          </a:xfrm>
        </p:spPr>
        <p:txBody>
          <a:bodyPr anchor="ctr"/>
          <a:lstStyle/>
          <a:p>
            <a:pPr algn="ctr"/>
            <a:r>
              <a:rPr sz="7200">
                <a:solidFill>
                  <a:srgbClr val="2B82FB"/>
                </a:solidFill>
                <a:latin typeface="Google Sans"/>
                <a:ea typeface="Google Sans"/>
                <a:cs typeface="Google Sans"/>
              </a:rPr>
              <a:t>Opportunities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495" y="380000"/>
            <a:ext cx="22600000" cy="1300000"/>
          </a:xfrm>
        </p:spPr>
        <p:txBody>
          <a:bodyPr/>
          <a:lstStyle/>
          <a:p>
            <a:r>
              <a:rPr sz="5400">
                <a:latin typeface="Google Sans"/>
                <a:ea typeface="Google Sans"/>
                <a:cs typeface="Google Sans"/>
              </a:rPr>
              <a:t>Opportunities for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6968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du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83464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44168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Personal tutor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Explains any topic at your level and quizzes you before exams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3388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de_EA43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588" y="283464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90588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Coding buddy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0588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Helps you build your first app and fix bugs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79808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bolt_34A8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7008" y="2834640"/>
            <a:ext cx="1371600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637008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Creative partner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37008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Design, music, video: turn ideas into something real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26227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people_FBBC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3427" y="2834640"/>
            <a:ext cx="137160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283427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Accessibility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3427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Live captions, read-aloud and translation for everyone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9326880"/>
            <a:ext cx="22174200" cy="155448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2B82FB"/>
                </a:solidFill>
                <a:latin typeface="Google Sans"/>
                <a:ea typeface="Google Sans"/>
                <a:cs typeface="Google Sans"/>
              </a:rPr>
              <a:t>Use AI to learn faster, not to skip learning.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495" y="380000"/>
            <a:ext cx="22600000" cy="1300000"/>
          </a:xfrm>
        </p:spPr>
        <p:txBody>
          <a:bodyPr/>
          <a:lstStyle/>
          <a:p>
            <a:r>
              <a:rPr sz="5400">
                <a:latin typeface="Google Sans"/>
                <a:ea typeface="Google Sans"/>
                <a:cs typeface="Google Sans"/>
              </a:rPr>
              <a:t>Opportunities for the World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6968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ealth_EA43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83464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44168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AI helps doctors in India screen for diabetic eye disease from retina photos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3388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earch_4285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588" y="283464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90588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0588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AlphaFold predicted 200M+ protein structures and won the 2024 Nobel Prize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79808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loud_34A8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7008" y="2834640"/>
            <a:ext cx="1371600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637008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Climate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37008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Google Flood Hub warns communities of floods up to a week ahead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26227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art_FBBC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3427" y="2834640"/>
            <a:ext cx="137160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283427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Farming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3427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Farmers photograph a leaf and learn what disease the crop has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9326880"/>
            <a:ext cx="22174200" cy="155448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2B82FB"/>
                </a:solidFill>
                <a:latin typeface="Google Sans"/>
                <a:ea typeface="Google Sans"/>
                <a:cs typeface="Google Sans"/>
              </a:rPr>
              <a:t>AI helps experts do more, faster, for more people.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495" y="380000"/>
            <a:ext cx="22600000" cy="1300000"/>
          </a:xfrm>
        </p:spPr>
        <p:txBody>
          <a:bodyPr/>
          <a:lstStyle/>
          <a:p>
            <a:r>
              <a:rPr sz="5400">
                <a:latin typeface="Google Sans"/>
                <a:ea typeface="Google Sans"/>
                <a:cs typeface="Google Sans"/>
              </a:rPr>
              <a:t>Jobs Are Changing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6968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de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83464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44168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AI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Builds apps and products powered by AI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3388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rt_34A8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588" y="283464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90588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Data scientist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0588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Finds patterns in data and trains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79808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eople_EA43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7008" y="2834640"/>
            <a:ext cx="1371600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637008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AI designer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37008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Designs how people and AI work together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26227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hield_FBBC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3427" y="2834640"/>
            <a:ext cx="137160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283427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AI ethics &amp;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3427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Keeps AI fair, safe and accountable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9326880"/>
            <a:ext cx="22174200" cy="155448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2B82FB"/>
                </a:solidFill>
                <a:latin typeface="Google Sans"/>
                <a:ea typeface="Google Sans"/>
                <a:cs typeface="Google Sans"/>
              </a:rPr>
              <a:t>AI won’t replace you. A person who knows how to use AI might.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51499" y="637952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1435" y="5600000"/>
            <a:ext cx="12287100" cy="2600000"/>
          </a:xfrm>
        </p:spPr>
        <p:txBody>
          <a:bodyPr anchor="ctr"/>
          <a:lstStyle/>
          <a:p>
            <a:pPr algn="ctr"/>
            <a:r>
              <a:rPr sz="7200">
                <a:solidFill>
                  <a:srgbClr val="2B82FB"/>
                </a:solidFill>
                <a:latin typeface="Google Sans"/>
                <a:ea typeface="Google Sans"/>
                <a:cs typeface="Google Sans"/>
              </a:rPr>
              <a:t>Challenges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495" y="380000"/>
            <a:ext cx="22600000" cy="1300000"/>
          </a:xfrm>
        </p:spPr>
        <p:txBody>
          <a:bodyPr/>
          <a:lstStyle/>
          <a:p>
            <a:r>
              <a:rPr sz="5400">
                <a:latin typeface="Google Sans"/>
                <a:ea typeface="Google Sans"/>
                <a:cs typeface="Google Sans"/>
              </a:rPr>
              <a:t>Hallucinations: Confidently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2057400"/>
            <a:ext cx="12070080" cy="329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AI predicts </a:t>
            </a:r>
            <a:r>
              <a:rPr sz="40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likely</a:t>
            </a:r>
            <a:r>
              <a:rPr sz="4000" b="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 words, not </a:t>
            </a:r>
            <a:r>
              <a:rPr sz="40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true</a:t>
            </a:r>
            <a:r>
              <a:rPr sz="4000" b="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 ones, so it can invent facts that sound perfectly right.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5715000"/>
            <a:ext cx="12070080" cy="5669280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98448" y="6126480"/>
            <a:ext cx="2103120" cy="6858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Google Sans"/>
                <a:ea typeface="Google Sans"/>
                <a:cs typeface="Google Sans"/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7040880"/>
            <a:ext cx="11247119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7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The book that doesn’t exist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001000"/>
            <a:ext cx="11247119" cy="3200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Ask for a book or a research paper on a topic.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It may give a convincing title, author and year that are made up.</a:t>
            </a:r>
          </a:p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Check important facts in a second, trusted source.</a:t>
            </a:r>
          </a:p>
        </p:txBody>
      </p:sp>
      <p:pic>
        <p:nvPicPr>
          <p:cNvPr id="8" name="Picture 7" descr="Hallucinations: Confidently Wro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3657600"/>
            <a:ext cx="1005840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495" y="380000"/>
            <a:ext cx="22600000" cy="1300000"/>
          </a:xfrm>
        </p:spPr>
        <p:txBody>
          <a:bodyPr/>
          <a:lstStyle/>
          <a:p>
            <a:r>
              <a:rPr sz="5400">
                <a:latin typeface="Google Sans"/>
                <a:ea typeface="Google Sans"/>
                <a:cs typeface="Google Sans"/>
              </a:rPr>
              <a:t>Bias: Unfair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2057400"/>
            <a:ext cx="12070080" cy="329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AI learns from </a:t>
            </a:r>
            <a:r>
              <a:rPr sz="40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past data</a:t>
            </a:r>
            <a:r>
              <a:rPr sz="4000" b="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. If the past was unfair, the AI can repeat that unfairness, at scale.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5715000"/>
            <a:ext cx="12070080" cy="5669280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98448" y="6126480"/>
            <a:ext cx="2103120" cy="685800"/>
          </a:xfrm>
          <a:prstGeom prst="roundRect">
            <a:avLst>
              <a:gd name="adj" fmla="val 5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7040880"/>
            <a:ext cx="11247119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7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A hiring tool that learned the wrong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001000"/>
            <a:ext cx="11247119" cy="3200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In 2018, Amazon dropped an experimental hiring AI.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Trained on years of mostly male hires, it scored women’s CVs lower.</a:t>
            </a:r>
          </a:p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Fair AI needs fair data, testing and human checks.</a:t>
            </a:r>
          </a:p>
        </p:txBody>
      </p:sp>
      <p:pic>
        <p:nvPicPr>
          <p:cNvPr id="8" name="Picture 7" descr="Bias: Unfair Patter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3931920"/>
            <a:ext cx="10058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495" y="380000"/>
            <a:ext cx="22600000" cy="1300000"/>
          </a:xfrm>
        </p:spPr>
        <p:txBody>
          <a:bodyPr/>
          <a:lstStyle/>
          <a:p>
            <a:r>
              <a:rPr sz="5400">
                <a:latin typeface="Google Sans"/>
                <a:ea typeface="Google Sans"/>
                <a:cs typeface="Google Sans"/>
              </a:rPr>
              <a:t>Deepfakes and Misinformation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2057400"/>
            <a:ext cx="12070080" cy="329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AI can make </a:t>
            </a:r>
            <a:r>
              <a:rPr sz="40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fake photos, voices and videos</a:t>
            </a:r>
            <a:r>
              <a:rPr sz="4000" b="0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 that look real, and they spread fast.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5715000"/>
            <a:ext cx="12070080" cy="566928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98448" y="6126480"/>
            <a:ext cx="2103120" cy="6858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Google Sans"/>
                <a:ea typeface="Google Sans"/>
                <a:cs typeface="Google Sans"/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7040880"/>
            <a:ext cx="11247119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7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The celebrity “endorsement” scam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8001000"/>
            <a:ext cx="11247119" cy="3200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Fake videos of famous people promoting investment scams circulate online.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Check the source before you share.</a:t>
            </a:r>
          </a:p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Tools like Google’s SynthID add hidden watermarks so AI-made content can be detected.</a:t>
            </a:r>
          </a:p>
        </p:txBody>
      </p:sp>
      <p:pic>
        <p:nvPicPr>
          <p:cNvPr id="8" name="Picture 7" descr="Deepfakes and Misinform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3210559"/>
            <a:ext cx="10058400" cy="6929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495" y="380000"/>
            <a:ext cx="22600000" cy="1300000"/>
          </a:xfrm>
        </p:spPr>
        <p:txBody>
          <a:bodyPr/>
          <a:lstStyle/>
          <a:p>
            <a:r>
              <a:rPr sz="5400">
                <a:latin typeface="Google Sans"/>
                <a:ea typeface="Google Sans"/>
                <a:cs typeface="Google Sans"/>
              </a:rPr>
              <a:t>Privacy, Jobs and Over-reliance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6968" y="2377440"/>
            <a:ext cx="7117080" cy="6217920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ck_EA43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83464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44168" y="4480560"/>
            <a:ext cx="62026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5440680"/>
            <a:ext cx="620268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Don’t paste passwords, personal details or private documents into chatbots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5528" y="2377440"/>
            <a:ext cx="7117080" cy="6217920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ears_FBBC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728" y="283464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72728" y="4480560"/>
            <a:ext cx="62026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2728" y="5440680"/>
            <a:ext cx="620268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Routine tasks will change, so build skills AI can’t easily copy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944088" y="2377440"/>
            <a:ext cx="7117080" cy="621792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edu_4285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01288" y="2834640"/>
            <a:ext cx="1371600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01288" y="4480560"/>
            <a:ext cx="62026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Over-reliance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01288" y="5440680"/>
            <a:ext cx="620268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If AI writes your homework, you don’t learn the subject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" y="9326880"/>
            <a:ext cx="22174200" cy="155448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2B82FB"/>
                </a:solidFill>
                <a:latin typeface="Google Sans"/>
                <a:ea typeface="Google Sans"/>
                <a:cs typeface="Google Sans"/>
              </a:rPr>
              <a:t>Use AI as a co-pilot, not an autopilot.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51499" y="637952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1435" y="5600000"/>
            <a:ext cx="12287100" cy="2600000"/>
          </a:xfrm>
        </p:spPr>
        <p:txBody>
          <a:bodyPr anchor="ctr"/>
          <a:lstStyle/>
          <a:p>
            <a:pPr algn="ctr"/>
            <a:r>
              <a:rPr sz="7200">
                <a:solidFill>
                  <a:srgbClr val="2B82FB"/>
                </a:solidFill>
                <a:latin typeface="Google Sans"/>
                <a:ea typeface="Google Sans"/>
                <a:cs typeface="Google Sans"/>
              </a:rPr>
              <a:t>The Future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495" y="380000"/>
            <a:ext cx="22600000" cy="1300000"/>
          </a:xfrm>
        </p:spPr>
        <p:txBody>
          <a:bodyPr/>
          <a:lstStyle/>
          <a:p>
            <a:r>
              <a:rPr sz="5400">
                <a:latin typeface="Google Sans"/>
                <a:ea typeface="Google Sans"/>
                <a:cs typeface="Google Sans"/>
              </a:rPr>
              <a:t>How We Got Here</a:t>
            </a:r>
          </a:p>
        </p:txBody>
      </p:sp>
      <p:pic>
        <p:nvPicPr>
          <p:cNvPr id="3" name="Picture 2" descr="Animated timeline of AI milestones from 1950 to tod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269236"/>
            <a:ext cx="22174200" cy="680008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86968" y="9509760"/>
            <a:ext cx="22174200" cy="14630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2B82FB"/>
                </a:solidFill>
                <a:latin typeface="Google Sans"/>
                <a:ea typeface="Google Sans"/>
                <a:cs typeface="Google Sans"/>
              </a:rPr>
              <a:t>Most of this happened in the last 10 years, within your lifetime.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495" y="380000"/>
            <a:ext cx="22600000" cy="1300000"/>
          </a:xfrm>
        </p:spPr>
        <p:txBody>
          <a:bodyPr/>
          <a:lstStyle/>
          <a:p>
            <a:r>
              <a:rPr sz="5400">
                <a:latin typeface="Google Sans"/>
                <a:ea typeface="Google Sans"/>
                <a:cs typeface="Google Sans"/>
              </a:rPr>
              <a:t>What’s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6968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obot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83464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44168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Assistants that complete tasks for you: plan, book and fill in forms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3388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ye_EA43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588" y="283464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90588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Multimodal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0588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AI that sees through your camera and talks in real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79808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onitor_34A8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7008" y="2834640"/>
            <a:ext cx="1371600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637008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On-device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37008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Runs privately on your phone or browser, even offline (Part 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26227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earch_FBBC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3427" y="2834640"/>
            <a:ext cx="137160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283427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AI for science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3427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Discovering new medicines and materials faster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9326880"/>
            <a:ext cx="22174200" cy="155448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2B82FB"/>
                </a:solidFill>
                <a:latin typeface="Google Sans"/>
                <a:ea typeface="Google Sans"/>
                <a:cs typeface="Google Sans"/>
              </a:rPr>
              <a:t>The future of AI will be built by people your age.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495" y="380000"/>
            <a:ext cx="22600000" cy="1300000"/>
          </a:xfrm>
        </p:spPr>
        <p:txBody>
          <a:bodyPr/>
          <a:lstStyle/>
          <a:p>
            <a:r>
              <a:rPr sz="5400">
                <a:latin typeface="Google Sans"/>
                <a:ea typeface="Google Sans"/>
                <a:cs typeface="Google Sans"/>
              </a:rPr>
              <a:t>How to Get Ready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6968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earch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83464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44168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Stay curious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Try Gemini, Google AI Studio and NotebookLM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3388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t_34A8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588" y="283464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90588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Learn to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0588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Give a clear goal, context and an 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79808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heck_EA43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7008" y="2834640"/>
            <a:ext cx="1371600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637008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37008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Check facts and sources before you trust or share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26227" y="2377440"/>
            <a:ext cx="5234940" cy="6217920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wrench_FBBC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3427" y="2834640"/>
            <a:ext cx="137160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283427" y="4480560"/>
            <a:ext cx="43205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Build something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3427" y="5440680"/>
            <a:ext cx="43205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Teachable Machine: train your own AI, no code needed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9326880"/>
            <a:ext cx="22174200" cy="155448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2B82FB"/>
                </a:solidFill>
                <a:latin typeface="Google Sans"/>
                <a:ea typeface="Google Sans"/>
                <a:cs typeface="Google Sans"/>
              </a:rPr>
              <a:t>The best way to understand AI is to build with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51499" y="637952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1435" y="5600000"/>
            <a:ext cx="12287100" cy="2600000"/>
          </a:xfrm>
        </p:spPr>
        <p:txBody>
          <a:bodyPr anchor="ctr"/>
          <a:lstStyle/>
          <a:p>
            <a:pPr algn="ctr"/>
            <a:r>
              <a:rPr sz="7200">
                <a:solidFill>
                  <a:srgbClr val="2B82FB"/>
                </a:solidFill>
                <a:latin typeface="Google Sans"/>
                <a:ea typeface="Google Sans"/>
                <a:cs typeface="Google Sans"/>
              </a:rPr>
              <a:t>Sketch2Runway: Gen AI in Fashion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4343400"/>
            <a:ext cx="12344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10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PART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xfrm>
            <a:off x="1260600" y="1061192"/>
            <a:ext cx="21862800" cy="18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7200"/>
              <a:t>Content</a:t>
            </a:r>
            <a:endParaRPr sz="7200"/>
          </a:p>
        </p:txBody>
      </p:sp>
      <p:sp>
        <p:nvSpPr>
          <p:cNvPr id="51" name="Google Shape;51;p3"/>
          <p:cNvSpPr txBox="1">
            <a:spLocks noGrp="1"/>
          </p:cNvSpPr>
          <p:nvPr>
            <p:ph type="body" idx="1"/>
          </p:nvPr>
        </p:nvSpPr>
        <p:spPr>
          <a:xfrm>
            <a:off x="1260600" y="2648368"/>
            <a:ext cx="22603010" cy="10010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IN" sz="5400" dirty="0">
                <a:solidFill>
                  <a:schemeClr val="accent3"/>
                </a:solidFill>
                <a:latin typeface="Google Sans"/>
                <a:ea typeface="Calibri"/>
                <a:cs typeface="Calibri"/>
                <a:sym typeface="Calibri"/>
              </a:rPr>
              <a:t> Introduction</a:t>
            </a:r>
          </a:p>
          <a:p>
            <a:pPr indent="-457200"/>
            <a:r>
              <a:rPr lang="en-IN" sz="5400" dirty="0">
                <a:solidFill>
                  <a:schemeClr val="accent3"/>
                </a:solidFill>
                <a:latin typeface="Google Sans"/>
                <a:ea typeface="Calibri"/>
                <a:cs typeface="Calibri"/>
                <a:sym typeface="Calibri"/>
              </a:rPr>
              <a:t> AI in Fashion</a:t>
            </a:r>
          </a:p>
          <a:p>
            <a:pPr marL="457200" lvl="0" indent="-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●"/>
            </a:pPr>
            <a:r>
              <a:rPr lang="en-IN" sz="5400" dirty="0">
                <a:solidFill>
                  <a:schemeClr val="accent3"/>
                </a:solidFill>
                <a:latin typeface="Google Sans"/>
                <a:ea typeface="Calibri"/>
                <a:cs typeface="Calibri"/>
                <a:sym typeface="Calibri"/>
              </a:rPr>
              <a:t> Introduction to Google Gen Media</a:t>
            </a:r>
          </a:p>
          <a:p>
            <a:pPr marL="457200" lvl="0" indent="-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Char char="●"/>
            </a:pPr>
            <a:r>
              <a:rPr lang="en-IN" sz="5400" dirty="0">
                <a:solidFill>
                  <a:schemeClr val="accent3"/>
                </a:solidFill>
                <a:latin typeface="Google Sans"/>
                <a:ea typeface="Calibri"/>
                <a:cs typeface="Calibri"/>
                <a:sym typeface="Calibri"/>
              </a:rPr>
              <a:t> About Sketch2Runway</a:t>
            </a:r>
          </a:p>
          <a:p>
            <a:pPr lvl="0" indent="-457200"/>
            <a:r>
              <a:rPr lang="en-IN" sz="5400" dirty="0">
                <a:solidFill>
                  <a:schemeClr val="accent3"/>
                </a:solidFill>
                <a:latin typeface="Google Sans"/>
                <a:ea typeface="Calibri"/>
                <a:cs typeface="Calibri"/>
                <a:sym typeface="Calibri"/>
              </a:rPr>
              <a:t> Project Demonstration</a:t>
            </a:r>
          </a:p>
          <a:p>
            <a:pPr lvl="0" indent="-457200"/>
            <a:r>
              <a:rPr lang="en-IN" sz="5400" dirty="0">
                <a:solidFill>
                  <a:schemeClr val="accent3"/>
                </a:solidFill>
                <a:latin typeface="Google Sans"/>
                <a:ea typeface="Calibri"/>
                <a:cs typeface="Calibri"/>
                <a:sym typeface="Calibri"/>
              </a:rPr>
              <a:t> Resources</a:t>
            </a:r>
            <a:endParaRPr sz="5400" dirty="0">
              <a:solidFill>
                <a:schemeClr val="accent3"/>
              </a:solidFill>
              <a:latin typeface="Google Sans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5400" dirty="0">
              <a:latin typeface="Google Sans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0431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E529829C-557F-9FD0-64E6-13AE5214C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51499" y="637952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Google Shape;56;p4">
            <a:extLst>
              <a:ext uri="{FF2B5EF4-FFF2-40B4-BE49-F238E27FC236}">
                <a16:creationId xmlns:a16="http://schemas.microsoft.com/office/drawing/2014/main" id="{04EF9554-CA99-92EB-2689-5166A6D9E7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8277" y="6250748"/>
            <a:ext cx="12287100" cy="121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7200" b="1" dirty="0">
                <a:solidFill>
                  <a:srgbClr val="2B82FB"/>
                </a:solidFill>
                <a:latin typeface="Google Sans"/>
              </a:rPr>
              <a:t>Introduction</a:t>
            </a:r>
            <a:endParaRPr sz="7200" b="1" dirty="0">
              <a:solidFill>
                <a:srgbClr val="2B82FB"/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686669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890495" y="170915"/>
            <a:ext cx="21862800" cy="18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IN" sz="5400" b="1" dirty="0">
                <a:latin typeface="Google Sans"/>
              </a:rPr>
              <a:t>Introduction</a:t>
            </a:r>
            <a:endParaRPr sz="5400" b="1" dirty="0">
              <a:latin typeface="Google Sans"/>
            </a:endParaRPr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1"/>
          </p:nvPr>
        </p:nvSpPr>
        <p:spPr>
          <a:xfrm>
            <a:off x="890495" y="1080665"/>
            <a:ext cx="22603010" cy="1066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SzPts val="3000"/>
              <a:buNone/>
            </a:pPr>
            <a:r>
              <a:rPr lang="en-IN" sz="4800" i="1" dirty="0">
                <a:latin typeface="Google Sans"/>
                <a:sym typeface="Arial"/>
              </a:rPr>
              <a:t>Every expert in a field starts small – with scribbles, mistakes, and dreams.</a:t>
            </a:r>
            <a:endParaRPr sz="4800" i="1" dirty="0">
              <a:latin typeface="Google Sans"/>
              <a:sym typeface="Arial"/>
            </a:endParaRPr>
          </a:p>
        </p:txBody>
      </p:sp>
      <p:pic>
        <p:nvPicPr>
          <p:cNvPr id="2050" name="Picture 2" descr="image from models">
            <a:extLst>
              <a:ext uri="{FF2B5EF4-FFF2-40B4-BE49-F238E27FC236}">
                <a16:creationId xmlns:a16="http://schemas.microsoft.com/office/drawing/2014/main" id="{7522EC7E-5371-A278-976F-C5C8E6F6F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054" y="2212334"/>
            <a:ext cx="9753600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7B981B-8185-D9D4-F9C3-1B5FC372A81F}"/>
              </a:ext>
            </a:extLst>
          </p:cNvPr>
          <p:cNvSpPr txBox="1"/>
          <p:nvPr/>
        </p:nvSpPr>
        <p:spPr>
          <a:xfrm>
            <a:off x="10941209" y="3252499"/>
            <a:ext cx="12230300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>
                <a:solidFill>
                  <a:srgbClr val="4285F4"/>
                </a:solidFill>
                <a:latin typeface="Google Sans"/>
              </a:rPr>
              <a:t>Meet Mira. She’s not a designer yet, but she has big dreams.</a:t>
            </a:r>
          </a:p>
          <a:p>
            <a:pPr algn="just"/>
            <a:endParaRPr lang="en-US" sz="4000" dirty="0">
              <a:latin typeface="Google Sans"/>
            </a:endParaRPr>
          </a:p>
          <a:p>
            <a:pPr algn="just"/>
            <a:r>
              <a:rPr lang="en-US" sz="4000" dirty="0">
                <a:latin typeface="Google Sans"/>
              </a:rPr>
              <a:t>She spends hours sketching in her room, imagining her creations on the runway.</a:t>
            </a:r>
          </a:p>
          <a:p>
            <a:pPr algn="just"/>
            <a:endParaRPr lang="en-US" sz="4000" dirty="0">
              <a:latin typeface="Google Sans"/>
            </a:endParaRPr>
          </a:p>
          <a:p>
            <a:pPr algn="just"/>
            <a:r>
              <a:rPr lang="en-US" sz="4000" dirty="0">
                <a:latin typeface="Google Sans"/>
              </a:rPr>
              <a:t>But the path from sketchbook to spotlight is full of challenges like time, cost, and limited access to resources.</a:t>
            </a:r>
          </a:p>
          <a:p>
            <a:pPr algn="just"/>
            <a:endParaRPr lang="en-US" sz="4000" dirty="0">
              <a:latin typeface="Google Sans"/>
            </a:endParaRPr>
          </a:p>
          <a:p>
            <a:pPr algn="just"/>
            <a:r>
              <a:rPr lang="en-US" sz="4000" dirty="0">
                <a:latin typeface="Google Sans"/>
              </a:rPr>
              <a:t>What if technology could help dreamers like Mira bring their fashion visions to life?</a:t>
            </a:r>
          </a:p>
          <a:p>
            <a:pPr algn="just"/>
            <a:endParaRPr lang="en-US" sz="4000" dirty="0">
              <a:latin typeface="Google Sans"/>
            </a:endParaRPr>
          </a:p>
          <a:p>
            <a:pPr algn="just"/>
            <a:r>
              <a:rPr lang="en-US" sz="4000" dirty="0">
                <a:latin typeface="Google Sans"/>
              </a:rPr>
              <a:t>That’s where </a:t>
            </a:r>
            <a:r>
              <a:rPr lang="en-US" sz="4000" u="sng" dirty="0">
                <a:solidFill>
                  <a:srgbClr val="4285F4"/>
                </a:solidFill>
                <a:latin typeface="Google Sans"/>
              </a:rPr>
              <a:t>Generative AI</a:t>
            </a:r>
            <a:r>
              <a:rPr lang="en-US" sz="4000" dirty="0">
                <a:latin typeface="Google Sans"/>
              </a:rPr>
              <a:t> comes in.</a:t>
            </a:r>
          </a:p>
        </p:txBody>
      </p:sp>
    </p:spTree>
    <p:extLst>
      <p:ext uri="{BB962C8B-B14F-4D97-AF65-F5344CB8AC3E}">
        <p14:creationId xmlns:p14="http://schemas.microsoft.com/office/powerpoint/2010/main" val="238832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98C5A7C0-23C7-EF6E-7653-2FD3F0F33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51499" y="637952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Google Shape;56;p4">
            <a:extLst>
              <a:ext uri="{FF2B5EF4-FFF2-40B4-BE49-F238E27FC236}">
                <a16:creationId xmlns:a16="http://schemas.microsoft.com/office/drawing/2014/main" id="{9C6E0F39-1C20-065B-1371-370F55F6FC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8277" y="6250748"/>
            <a:ext cx="12287100" cy="121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7200" b="1" dirty="0">
                <a:solidFill>
                  <a:srgbClr val="2B82FB"/>
                </a:solidFill>
                <a:latin typeface="Google Sans"/>
              </a:rPr>
              <a:t>AI in Fashion</a:t>
            </a:r>
            <a:endParaRPr sz="7200" b="1" dirty="0">
              <a:solidFill>
                <a:srgbClr val="2B82FB"/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309764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548D70A-09E9-FD4C-F135-9D5AEC7E3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Google Shape;61;p5">
            <a:extLst>
              <a:ext uri="{FF2B5EF4-FFF2-40B4-BE49-F238E27FC236}">
                <a16:creationId xmlns:a16="http://schemas.microsoft.com/office/drawing/2014/main" id="{70B010D7-45DB-2656-4D2F-59D1176375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495" y="637445"/>
            <a:ext cx="21862800" cy="18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5400" b="1" dirty="0">
                <a:latin typeface="Google Sans"/>
              </a:rPr>
              <a:t>AI in Fashion</a:t>
            </a:r>
            <a:endParaRPr sz="5400" b="1" dirty="0">
              <a:latin typeface="Google Sans"/>
            </a:endParaRPr>
          </a:p>
        </p:txBody>
      </p:sp>
      <p:sp>
        <p:nvSpPr>
          <p:cNvPr id="62" name="Google Shape;62;p5">
            <a:extLst>
              <a:ext uri="{FF2B5EF4-FFF2-40B4-BE49-F238E27FC236}">
                <a16:creationId xmlns:a16="http://schemas.microsoft.com/office/drawing/2014/main" id="{57D11C1A-432D-1088-2894-A8B49D3C1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0495" y="2194368"/>
            <a:ext cx="22603010" cy="1066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lvl="0" indent="-571500" algn="just">
              <a:buSzPts val="3000"/>
            </a:pPr>
            <a:r>
              <a:rPr lang="en-US" sz="4400" dirty="0">
                <a:latin typeface="Google Sans"/>
              </a:rPr>
              <a:t>AI is transforming the fashion industry by personalizing customer experiences through virtual try-ons, and AI-powered stylizations.</a:t>
            </a:r>
          </a:p>
          <a:p>
            <a:pPr marL="571500" lvl="0" indent="-571500" algn="just">
              <a:buSzPts val="3000"/>
            </a:pPr>
            <a:endParaRPr lang="en-US" sz="4400" dirty="0">
              <a:latin typeface="Google Sans"/>
            </a:endParaRPr>
          </a:p>
          <a:p>
            <a:pPr marL="571500" lvl="0" indent="-571500" algn="just">
              <a:buSzPts val="3000"/>
            </a:pPr>
            <a:r>
              <a:rPr lang="en-US" sz="4400" dirty="0">
                <a:latin typeface="Google Sans"/>
              </a:rPr>
              <a:t>Accelerate designs by generating new clothing concepts and enabling rapid prototyping from sketches.</a:t>
            </a:r>
          </a:p>
          <a:p>
            <a:pPr marL="571500" lvl="0" indent="-571500" algn="just">
              <a:buSzPts val="3000"/>
            </a:pPr>
            <a:endParaRPr lang="en-US" sz="4400" dirty="0">
              <a:latin typeface="Google Sans"/>
              <a:sym typeface="Arial"/>
            </a:endParaRPr>
          </a:p>
          <a:p>
            <a:pPr marL="571500" lvl="0" indent="-571500" algn="just">
              <a:buSzPts val="3000"/>
            </a:pPr>
            <a:r>
              <a:rPr lang="en-US" sz="4400" dirty="0">
                <a:latin typeface="Google Sans"/>
              </a:rPr>
              <a:t>AI-powered visual search helps customers find products faster by uploading images or photos.</a:t>
            </a:r>
          </a:p>
          <a:p>
            <a:pPr marL="571500" lvl="0" indent="-571500" algn="just">
              <a:buSzPts val="3000"/>
            </a:pPr>
            <a:endParaRPr lang="en-US" sz="4400" dirty="0">
              <a:latin typeface="Google Sans"/>
            </a:endParaRPr>
          </a:p>
          <a:p>
            <a:pPr marL="571500" lvl="0" indent="-571500" algn="just">
              <a:buSzPts val="3000"/>
            </a:pPr>
            <a:r>
              <a:rPr lang="en-US" sz="4400" dirty="0">
                <a:latin typeface="Google Sans"/>
              </a:rPr>
              <a:t>Brands use AI for demand forecasting and inventory optimization to reduce waste and improve sustainability.</a:t>
            </a:r>
          </a:p>
        </p:txBody>
      </p:sp>
    </p:spTree>
    <p:extLst>
      <p:ext uri="{BB962C8B-B14F-4D97-AF65-F5344CB8AC3E}">
        <p14:creationId xmlns:p14="http://schemas.microsoft.com/office/powerpoint/2010/main" val="1632062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D648F5B-E2F4-8C20-AAE1-69E8DD4C9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image from models">
            <a:extLst>
              <a:ext uri="{FF2B5EF4-FFF2-40B4-BE49-F238E27FC236}">
                <a16:creationId xmlns:a16="http://schemas.microsoft.com/office/drawing/2014/main" id="{E0E7273E-F2FB-5116-A467-62F4790C2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371" y="824204"/>
            <a:ext cx="9753600" cy="97536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4BC758-FB76-70EF-43BD-444FCC323BCA}"/>
              </a:ext>
            </a:extLst>
          </p:cNvPr>
          <p:cNvSpPr/>
          <p:nvPr/>
        </p:nvSpPr>
        <p:spPr>
          <a:xfrm>
            <a:off x="4086807" y="10919926"/>
            <a:ext cx="4833257" cy="951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latin typeface="Google Sans"/>
              </a:rPr>
              <a:t>Virtual Try-On</a:t>
            </a:r>
          </a:p>
        </p:txBody>
      </p:sp>
      <p:pic>
        <p:nvPicPr>
          <p:cNvPr id="8" name="Picture 2" descr="image from models">
            <a:extLst>
              <a:ext uri="{FF2B5EF4-FFF2-40B4-BE49-F238E27FC236}">
                <a16:creationId xmlns:a16="http://schemas.microsoft.com/office/drawing/2014/main" id="{21F227C4-45F7-45B0-6CFA-08B11FF0C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5502" y="824205"/>
            <a:ext cx="9887339" cy="97536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F1C208-9F12-08A7-EB29-4FF66016ED9B}"/>
              </a:ext>
            </a:extLst>
          </p:cNvPr>
          <p:cNvSpPr/>
          <p:nvPr/>
        </p:nvSpPr>
        <p:spPr>
          <a:xfrm>
            <a:off x="14902542" y="10919925"/>
            <a:ext cx="4833257" cy="951723"/>
          </a:xfrm>
          <a:prstGeom prst="roundRect">
            <a:avLst/>
          </a:prstGeom>
          <a:solidFill>
            <a:srgbClr val="FBBC0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latin typeface="Google Sans"/>
              </a:rPr>
              <a:t>Sketch2Design</a:t>
            </a:r>
          </a:p>
        </p:txBody>
      </p:sp>
    </p:spTree>
    <p:extLst>
      <p:ext uri="{BB962C8B-B14F-4D97-AF65-F5344CB8AC3E}">
        <p14:creationId xmlns:p14="http://schemas.microsoft.com/office/powerpoint/2010/main" val="15082376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1EC8051B-227B-78A5-2B67-953961497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Google Shape;61;p5">
            <a:extLst>
              <a:ext uri="{FF2B5EF4-FFF2-40B4-BE49-F238E27FC236}">
                <a16:creationId xmlns:a16="http://schemas.microsoft.com/office/drawing/2014/main" id="{FDC990E9-93B3-5531-04D2-8CF33AE9C1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1287" y="234424"/>
            <a:ext cx="21862800" cy="18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IN" sz="5400" b="1" dirty="0">
                <a:latin typeface="Google Sans"/>
              </a:rPr>
              <a:t>Fashion Industry using AI</a:t>
            </a:r>
            <a:endParaRPr sz="5400" b="1" dirty="0">
              <a:latin typeface="Google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2B21E6-F7AE-B780-E6CC-44CCEE92FDC4}"/>
              </a:ext>
            </a:extLst>
          </p:cNvPr>
          <p:cNvSpPr/>
          <p:nvPr/>
        </p:nvSpPr>
        <p:spPr>
          <a:xfrm>
            <a:off x="5285121" y="1698171"/>
            <a:ext cx="5165166" cy="4758613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C1D468-74A8-F913-4716-E6EB23408F2D}"/>
              </a:ext>
            </a:extLst>
          </p:cNvPr>
          <p:cNvSpPr/>
          <p:nvPr/>
        </p:nvSpPr>
        <p:spPr>
          <a:xfrm>
            <a:off x="5285121" y="7259216"/>
            <a:ext cx="5165166" cy="4254179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AF5B3F-CBEB-ADC6-E9A2-BDDEF21348E0}"/>
              </a:ext>
            </a:extLst>
          </p:cNvPr>
          <p:cNvSpPr/>
          <p:nvPr/>
        </p:nvSpPr>
        <p:spPr>
          <a:xfrm>
            <a:off x="11819660" y="1698171"/>
            <a:ext cx="5165166" cy="4758613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88E0AB-AFCE-132F-73BA-7E7E1F122FBB}"/>
              </a:ext>
            </a:extLst>
          </p:cNvPr>
          <p:cNvSpPr/>
          <p:nvPr/>
        </p:nvSpPr>
        <p:spPr>
          <a:xfrm>
            <a:off x="11819660" y="7259216"/>
            <a:ext cx="5165166" cy="4900509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C5D816F5-4AA8-810C-3AA7-81A81D5D8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207" y="2039956"/>
            <a:ext cx="3593646" cy="247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486B28-BF47-0AE9-2330-F05285BE29F6}"/>
              </a:ext>
            </a:extLst>
          </p:cNvPr>
          <p:cNvSpPr txBox="1"/>
          <p:nvPr/>
        </p:nvSpPr>
        <p:spPr>
          <a:xfrm>
            <a:off x="5285121" y="5373417"/>
            <a:ext cx="5165166" cy="1077218"/>
          </a:xfrm>
          <a:prstGeom prst="rect">
            <a:avLst/>
          </a:prstGeom>
          <a:solidFill>
            <a:srgbClr val="FBBC0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Google Sans"/>
              </a:rPr>
              <a:t>Generative design of sneakers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F51F2969-70C7-3FDF-F0B5-B4E0A5DC7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604" y="7799160"/>
            <a:ext cx="3360249" cy="2202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17A7BB-B885-1DE5-0B33-6884925400A9}"/>
              </a:ext>
            </a:extLst>
          </p:cNvPr>
          <p:cNvSpPr txBox="1"/>
          <p:nvPr/>
        </p:nvSpPr>
        <p:spPr>
          <a:xfrm>
            <a:off x="5285121" y="10497732"/>
            <a:ext cx="5165166" cy="1569660"/>
          </a:xfrm>
          <a:prstGeom prst="rect">
            <a:avLst/>
          </a:prstGeom>
          <a:solidFill>
            <a:srgbClr val="199B3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Google Sans"/>
              </a:rPr>
              <a:t>Analyze customer preferences and social media trends</a:t>
            </a:r>
            <a:endParaRPr lang="en-IN" sz="3200" b="1" dirty="0">
              <a:solidFill>
                <a:schemeClr val="bg1"/>
              </a:solidFill>
              <a:latin typeface="Google Sans"/>
            </a:endParaRPr>
          </a:p>
        </p:txBody>
      </p:sp>
      <p:pic>
        <p:nvPicPr>
          <p:cNvPr id="14" name="Picture 8" descr="Gucci - Simple English Wikipedia, the free encyclopedia">
            <a:extLst>
              <a:ext uri="{FF2B5EF4-FFF2-40B4-BE49-F238E27FC236}">
                <a16:creationId xmlns:a16="http://schemas.microsoft.com/office/drawing/2014/main" id="{2E2A1380-68B2-3E62-CBBB-776062DBF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2433" y="2279859"/>
            <a:ext cx="2399617" cy="247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Levis Logo and symbol, meaning, history, PNG, brand">
            <a:extLst>
              <a:ext uri="{FF2B5EF4-FFF2-40B4-BE49-F238E27FC236}">
                <a16:creationId xmlns:a16="http://schemas.microsoft.com/office/drawing/2014/main" id="{0A5E848B-64FA-3198-B786-24C609FF8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5613" y="7799160"/>
            <a:ext cx="3893258" cy="194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4BCD2C2-75F4-98E5-ACD2-6CD2DB34B21A}"/>
              </a:ext>
            </a:extLst>
          </p:cNvPr>
          <p:cNvSpPr txBox="1"/>
          <p:nvPr/>
        </p:nvSpPr>
        <p:spPr>
          <a:xfrm>
            <a:off x="11819659" y="5355960"/>
            <a:ext cx="5165166" cy="1077218"/>
          </a:xfrm>
          <a:prstGeom prst="rect">
            <a:avLst/>
          </a:prstGeom>
          <a:solidFill>
            <a:srgbClr val="4285F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Google Sans"/>
              </a:rPr>
              <a:t>AR-powered virtual try-ons for shoes and accessories</a:t>
            </a:r>
            <a:endParaRPr lang="en-IN" sz="3200" b="1" dirty="0">
              <a:solidFill>
                <a:schemeClr val="bg1"/>
              </a:solidFill>
              <a:latin typeface="Google San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F61365-AE72-19A5-2F09-F34D46D33D96}"/>
              </a:ext>
            </a:extLst>
          </p:cNvPr>
          <p:cNvSpPr txBox="1"/>
          <p:nvPr/>
        </p:nvSpPr>
        <p:spPr>
          <a:xfrm>
            <a:off x="11819659" y="10590065"/>
            <a:ext cx="5165166" cy="1569660"/>
          </a:xfrm>
          <a:prstGeom prst="rect">
            <a:avLst/>
          </a:prstGeom>
          <a:solidFill>
            <a:srgbClr val="E7302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Google Sans"/>
              </a:rPr>
              <a:t>AI for supply chain optimization and predictive 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311B2E-FED0-6087-796D-580E928966C0}"/>
              </a:ext>
            </a:extLst>
          </p:cNvPr>
          <p:cNvSpPr txBox="1"/>
          <p:nvPr/>
        </p:nvSpPr>
        <p:spPr>
          <a:xfrm>
            <a:off x="17952098" y="6489775"/>
            <a:ext cx="43719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Google Sans"/>
              </a:rPr>
              <a:t>and many more …</a:t>
            </a:r>
          </a:p>
        </p:txBody>
      </p:sp>
    </p:spTree>
    <p:extLst>
      <p:ext uri="{BB962C8B-B14F-4D97-AF65-F5344CB8AC3E}">
        <p14:creationId xmlns:p14="http://schemas.microsoft.com/office/powerpoint/2010/main" val="339601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  <p:bldP spid="6" grpId="0" animBg="1"/>
      <p:bldP spid="9" grpId="0" animBg="1"/>
      <p:bldP spid="11" grpId="0" animBg="1"/>
      <p:bldP spid="13" grpId="0" animBg="1"/>
      <p:bldP spid="16" grpId="0" animBg="1"/>
      <p:bldP spid="17" grpId="0" animBg="1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51499" y="637952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Google Shape;56;p4"/>
          <p:cNvSpPr txBox="1">
            <a:spLocks noGrp="1"/>
          </p:cNvSpPr>
          <p:nvPr>
            <p:ph type="title"/>
          </p:nvPr>
        </p:nvSpPr>
        <p:spPr>
          <a:xfrm>
            <a:off x="4411723" y="6250748"/>
            <a:ext cx="12287100" cy="121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7200" b="1" dirty="0">
                <a:solidFill>
                  <a:srgbClr val="2B82FB"/>
                </a:solidFill>
                <a:latin typeface="Google Sans"/>
              </a:rPr>
              <a:t>Google Cloud </a:t>
            </a:r>
            <a:br>
              <a:rPr lang="en-US" sz="7200" b="1" dirty="0">
                <a:solidFill>
                  <a:srgbClr val="2B82FB"/>
                </a:solidFill>
                <a:latin typeface="Google Sans"/>
              </a:rPr>
            </a:br>
            <a:r>
              <a:rPr lang="en-US" sz="7200" b="1" dirty="0">
                <a:solidFill>
                  <a:srgbClr val="2B82FB"/>
                </a:solidFill>
                <a:latin typeface="Google Sans"/>
              </a:rPr>
              <a:t>Gen Media on Vertex AI</a:t>
            </a:r>
            <a:endParaRPr sz="7200" b="1" dirty="0">
              <a:solidFill>
                <a:srgbClr val="2B82FB"/>
              </a:solidFill>
              <a:latin typeface="Google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F8D77F-B790-21AA-6B3C-A7A616F9E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0" y="64579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3559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50839DC-7617-948A-C8E3-43641594B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Google Shape;61;p5">
            <a:extLst>
              <a:ext uri="{FF2B5EF4-FFF2-40B4-BE49-F238E27FC236}">
                <a16:creationId xmlns:a16="http://schemas.microsoft.com/office/drawing/2014/main" id="{4A456991-F2BD-0C1E-A325-7C3891E1F5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495" y="337546"/>
            <a:ext cx="21862800" cy="18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5400" b="1" dirty="0">
                <a:latin typeface="Google Sans"/>
              </a:rPr>
              <a:t>Google Cloud        Gen Media</a:t>
            </a:r>
            <a:endParaRPr sz="5400" b="1" dirty="0">
              <a:latin typeface="Google Sans"/>
            </a:endParaRPr>
          </a:p>
        </p:txBody>
      </p:sp>
      <p:sp>
        <p:nvSpPr>
          <p:cNvPr id="62" name="Google Shape;62;p5">
            <a:extLst>
              <a:ext uri="{FF2B5EF4-FFF2-40B4-BE49-F238E27FC236}">
                <a16:creationId xmlns:a16="http://schemas.microsoft.com/office/drawing/2014/main" id="{BDDC8CA7-DAD3-BD12-2C3F-2F82D8B294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0495" y="1597210"/>
            <a:ext cx="21316362" cy="1066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lvl="0" indent="-571500" algn="just">
              <a:buSzPts val="3000"/>
            </a:pPr>
            <a:r>
              <a:rPr lang="en-US" dirty="0">
                <a:latin typeface="Google Sans"/>
              </a:rPr>
              <a:t>Google Cloud provides a suite of generative AI tools on Vertex AI called Gen Media, designed to help businesses create high-quality media content.</a:t>
            </a:r>
          </a:p>
          <a:p>
            <a:pPr marL="571500" lvl="0" indent="-571500" algn="just">
              <a:buSzPts val="3000"/>
            </a:pPr>
            <a:endParaRPr lang="en-US" dirty="0">
              <a:latin typeface="Google Sans"/>
            </a:endParaRPr>
          </a:p>
          <a:p>
            <a:pPr marL="571500" lvl="0" indent="-571500" algn="just">
              <a:buSzPts val="3000"/>
            </a:pPr>
            <a:r>
              <a:rPr lang="en-US" dirty="0">
                <a:latin typeface="Google Sans"/>
              </a:rPr>
              <a:t>These tools use advanced AI models to generate </a:t>
            </a:r>
            <a:r>
              <a:rPr lang="en-US" b="1" dirty="0">
                <a:solidFill>
                  <a:srgbClr val="4285F4"/>
                </a:solidFill>
                <a:latin typeface="Google Sans"/>
              </a:rPr>
              <a:t>images (Imagen)</a:t>
            </a:r>
            <a:r>
              <a:rPr lang="en-US" dirty="0">
                <a:latin typeface="Google Sans"/>
              </a:rPr>
              <a:t>, </a:t>
            </a:r>
            <a:r>
              <a:rPr lang="en-US" b="1" dirty="0">
                <a:solidFill>
                  <a:srgbClr val="4285F4"/>
                </a:solidFill>
                <a:latin typeface="Google Sans"/>
              </a:rPr>
              <a:t>videos (Veo)</a:t>
            </a:r>
            <a:r>
              <a:rPr lang="en-US" dirty="0">
                <a:latin typeface="Google Sans"/>
              </a:rPr>
              <a:t>, </a:t>
            </a:r>
            <a:r>
              <a:rPr lang="en-US" b="1" dirty="0">
                <a:solidFill>
                  <a:srgbClr val="4285F4"/>
                </a:solidFill>
                <a:latin typeface="Google Sans"/>
              </a:rPr>
              <a:t>music (Lyria</a:t>
            </a:r>
            <a:r>
              <a:rPr lang="en-US" b="1">
                <a:solidFill>
                  <a:srgbClr val="4285F4"/>
                </a:solidFill>
                <a:latin typeface="Google Sans"/>
              </a:rPr>
              <a:t>)</a:t>
            </a:r>
            <a:r>
              <a:rPr lang="en-US">
                <a:latin typeface="Google Sans"/>
              </a:rPr>
              <a:t>, </a:t>
            </a:r>
            <a:r>
              <a:rPr lang="en-US" b="1">
                <a:solidFill>
                  <a:srgbClr val="4285F4"/>
                </a:solidFill>
                <a:latin typeface="Google Sans"/>
              </a:rPr>
              <a:t>voice </a:t>
            </a:r>
            <a:r>
              <a:rPr lang="en-US" b="1" dirty="0">
                <a:solidFill>
                  <a:srgbClr val="4285F4"/>
                </a:solidFill>
                <a:latin typeface="Google Sans"/>
              </a:rPr>
              <a:t>(Chirp)</a:t>
            </a:r>
            <a:r>
              <a:rPr lang="en-US" dirty="0">
                <a:latin typeface="Google Sans"/>
              </a:rPr>
              <a:t>, etc. enabling more engaging and personalized customer experiences.</a:t>
            </a:r>
          </a:p>
          <a:p>
            <a:pPr marL="571500" lvl="0" indent="-571500" algn="just">
              <a:buSzPts val="3000"/>
            </a:pPr>
            <a:endParaRPr lang="en-US" dirty="0">
              <a:latin typeface="Google Sans"/>
              <a:sym typeface="Arial"/>
            </a:endParaRPr>
          </a:p>
          <a:p>
            <a:pPr marL="571500" lvl="0" indent="-571500" algn="just">
              <a:buSzPts val="3000"/>
            </a:pPr>
            <a:endParaRPr dirty="0">
              <a:latin typeface="Google Sans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FE9A41-D0B5-AB5B-4EB5-5B1A045C1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580" y="5869746"/>
            <a:ext cx="15643420" cy="58121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8575" cap="sq">
            <a:solidFill>
              <a:srgbClr val="4285F4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contourClr>
              <a:srgbClr val="C0C0C0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174B97-0295-EA7D-2A30-C4D61EDC7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33754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1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A919DBFF-C231-F5CF-DF84-477EEB212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51499" y="637952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Google Shape;56;p4">
            <a:extLst>
              <a:ext uri="{FF2B5EF4-FFF2-40B4-BE49-F238E27FC236}">
                <a16:creationId xmlns:a16="http://schemas.microsoft.com/office/drawing/2014/main" id="{228F7CD7-4495-1E32-F402-E2E7BB1B55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76310" y="5336348"/>
            <a:ext cx="12287100" cy="121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7200" b="1" dirty="0">
                <a:solidFill>
                  <a:srgbClr val="2B82FB"/>
                </a:solidFill>
                <a:latin typeface="Google Sans"/>
              </a:rPr>
              <a:t>Fashion Sketch2Runway</a:t>
            </a:r>
            <a:endParaRPr sz="7200" b="1" dirty="0">
              <a:solidFill>
                <a:srgbClr val="2B82FB"/>
              </a:solidFill>
              <a:latin typeface="Google San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9709095-D4B5-426E-B968-3D854740E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996" y="6858000"/>
            <a:ext cx="2748741" cy="2748741"/>
          </a:xfrm>
          <a:prstGeom prst="ellipse">
            <a:avLst/>
          </a:prstGeom>
          <a:ln w="28575" cap="rnd">
            <a:solidFill>
              <a:srgbClr val="333333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1F59E0DE-8423-1591-47B5-25C380B1F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8513" y="6858000"/>
            <a:ext cx="2748741" cy="2748741"/>
          </a:xfrm>
          <a:prstGeom prst="ellipse">
            <a:avLst/>
          </a:prstGeom>
          <a:ln w="28575" cap="rnd">
            <a:solidFill>
              <a:srgbClr val="333333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DC099D-EA0B-98B5-8D8D-78D6A6BFFA88}"/>
              </a:ext>
            </a:extLst>
          </p:cNvPr>
          <p:cNvSpPr txBox="1"/>
          <p:nvPr/>
        </p:nvSpPr>
        <p:spPr>
          <a:xfrm>
            <a:off x="10039737" y="9788384"/>
            <a:ext cx="53371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>
                    <a:lumMod val="50000"/>
                  </a:schemeClr>
                </a:solidFill>
                <a:latin typeface="Google Sans"/>
              </a:rPr>
              <a:t>Margaret Maynard-Reid</a:t>
            </a:r>
            <a:br>
              <a:rPr lang="en-IN" sz="3200" dirty="0">
                <a:solidFill>
                  <a:schemeClr val="bg1">
                    <a:lumMod val="50000"/>
                  </a:schemeClr>
                </a:solidFill>
                <a:latin typeface="Google Sans"/>
              </a:rPr>
            </a:b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Google Sans"/>
              </a:rPr>
              <a:t>AI GDE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F2736-89EA-60D5-C1C5-0D0A50A07CE2}"/>
              </a:ext>
            </a:extLst>
          </p:cNvPr>
          <p:cNvSpPr txBox="1"/>
          <p:nvPr/>
        </p:nvSpPr>
        <p:spPr>
          <a:xfrm>
            <a:off x="5996810" y="9788384"/>
            <a:ext cx="53371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>
                    <a:lumMod val="50000"/>
                  </a:schemeClr>
                </a:solidFill>
                <a:latin typeface="Google Sans"/>
              </a:rPr>
              <a:t>Nitin Tiwari</a:t>
            </a:r>
            <a:br>
              <a:rPr lang="en-IN" sz="3200" b="1" dirty="0">
                <a:solidFill>
                  <a:schemeClr val="bg1">
                    <a:lumMod val="50000"/>
                  </a:schemeClr>
                </a:solidFill>
                <a:latin typeface="Google Sans"/>
              </a:rPr>
            </a:b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Google Sans"/>
              </a:rPr>
              <a:t>AI GDE</a:t>
            </a:r>
          </a:p>
        </p:txBody>
      </p:sp>
    </p:spTree>
    <p:extLst>
      <p:ext uri="{BB962C8B-B14F-4D97-AF65-F5344CB8AC3E}">
        <p14:creationId xmlns:p14="http://schemas.microsoft.com/office/powerpoint/2010/main" val="1011717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60F9D76-1015-15B4-7A25-89C3AB1BB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Google Shape;61;p5">
            <a:extLst>
              <a:ext uri="{FF2B5EF4-FFF2-40B4-BE49-F238E27FC236}">
                <a16:creationId xmlns:a16="http://schemas.microsoft.com/office/drawing/2014/main" id="{AACC20E7-735B-EA10-3988-ADCDEFC21E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495" y="337546"/>
            <a:ext cx="21862800" cy="18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5400" b="1" dirty="0">
                <a:latin typeface="Google Sans"/>
              </a:rPr>
              <a:t>Fashion Sketch2Runway</a:t>
            </a:r>
            <a:endParaRPr sz="5400" b="1" dirty="0">
              <a:latin typeface="Google Sans"/>
            </a:endParaRPr>
          </a:p>
        </p:txBody>
      </p:sp>
      <p:sp>
        <p:nvSpPr>
          <p:cNvPr id="62" name="Google Shape;62;p5">
            <a:extLst>
              <a:ext uri="{FF2B5EF4-FFF2-40B4-BE49-F238E27FC236}">
                <a16:creationId xmlns:a16="http://schemas.microsoft.com/office/drawing/2014/main" id="{E45E8E33-7C9B-B8AC-CFCA-A93DCBD0FB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0495" y="2157046"/>
            <a:ext cx="21862800" cy="1066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lvl="0" indent="-571500" algn="just">
              <a:buSzPts val="3000"/>
            </a:pPr>
            <a:r>
              <a:rPr lang="en-US" dirty="0">
                <a:latin typeface="Google Sans"/>
              </a:rPr>
              <a:t>Developed in collaboration with fellow AI GDE Margaret Maynard-Reid, Sketch2Runway is a project that showcases Google’s Generative AI models </a:t>
            </a:r>
            <a:r>
              <a:rPr lang="en-US" b="1" dirty="0">
                <a:latin typeface="Google Sans"/>
              </a:rPr>
              <a:t>Gemini 2.5 Flash</a:t>
            </a:r>
            <a:r>
              <a:rPr lang="en-US" dirty="0">
                <a:latin typeface="Google Sans"/>
              </a:rPr>
              <a:t> (Nano Banana </a:t>
            </a:r>
            <a:r>
              <a:rPr lang="en-IN" dirty="0"/>
              <a:t>🍌</a:t>
            </a:r>
            <a:r>
              <a:rPr lang="en-US" dirty="0">
                <a:latin typeface="Google Sans"/>
              </a:rPr>
              <a:t>) and </a:t>
            </a:r>
            <a:r>
              <a:rPr lang="en-US" b="1" dirty="0">
                <a:latin typeface="Google Sans"/>
              </a:rPr>
              <a:t>Veo 3</a:t>
            </a:r>
            <a:r>
              <a:rPr lang="en-US" dirty="0">
                <a:latin typeface="Google Sans"/>
              </a:rPr>
              <a:t> for fashion design. </a:t>
            </a:r>
          </a:p>
          <a:p>
            <a:pPr marL="0" lvl="0" indent="0" algn="just">
              <a:buSzPts val="3000"/>
              <a:buNone/>
            </a:pPr>
            <a:endParaRPr lang="en-US" dirty="0">
              <a:latin typeface="Google Sans"/>
            </a:endParaRPr>
          </a:p>
          <a:p>
            <a:pPr marL="571500" lvl="0" indent="-571500" algn="just">
              <a:buSzPts val="3000"/>
            </a:pPr>
            <a:r>
              <a:rPr lang="en-US" dirty="0">
                <a:latin typeface="Google Sans"/>
              </a:rPr>
              <a:t>It converts your sketch to a beautiful fashion photo which you can edit and then turn it into a stunning 8-second video with the start-of-art video generation model Veo 3.</a:t>
            </a:r>
          </a:p>
          <a:p>
            <a:pPr marL="571500" lvl="0" indent="-571500" algn="just">
              <a:buSzPts val="3000"/>
            </a:pPr>
            <a:endParaRPr lang="en-US" dirty="0">
              <a:latin typeface="Google Sans"/>
            </a:endParaRPr>
          </a:p>
          <a:p>
            <a:pPr marL="571500" lvl="0" indent="-571500" algn="just">
              <a:buSzPts val="3000"/>
            </a:pPr>
            <a:endParaRPr lang="en-US" dirty="0">
              <a:latin typeface="Google Sans"/>
              <a:sym typeface="Arial"/>
            </a:endParaRPr>
          </a:p>
          <a:p>
            <a:pPr marL="571500" lvl="0" indent="-571500" algn="just">
              <a:buSzPts val="3000"/>
            </a:pPr>
            <a:endParaRPr dirty="0">
              <a:latin typeface="Google San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8890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47BB6C2-727C-19EC-1C68-CB9E86354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Google Shape;61;p5">
            <a:extLst>
              <a:ext uri="{FF2B5EF4-FFF2-40B4-BE49-F238E27FC236}">
                <a16:creationId xmlns:a16="http://schemas.microsoft.com/office/drawing/2014/main" id="{9847466E-8399-A496-5049-84C1E7D070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62345" y="836932"/>
            <a:ext cx="21862800" cy="18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4000" b="1" dirty="0">
                <a:latin typeface="Google Sans"/>
              </a:rPr>
              <a:t>**This project was featured by the official handle of Google AI for Developers**</a:t>
            </a:r>
            <a:endParaRPr sz="4000" b="1" dirty="0">
              <a:latin typeface="Google Sans"/>
            </a:endParaRPr>
          </a:p>
        </p:txBody>
      </p:sp>
      <p:sp>
        <p:nvSpPr>
          <p:cNvPr id="62" name="Google Shape;62;p5">
            <a:extLst>
              <a:ext uri="{FF2B5EF4-FFF2-40B4-BE49-F238E27FC236}">
                <a16:creationId xmlns:a16="http://schemas.microsoft.com/office/drawing/2014/main" id="{78C2D1EC-E395-B9B2-7B8C-2E757F677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0495" y="2157046"/>
            <a:ext cx="21862800" cy="1066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lvl="0" indent="-571500" algn="just">
              <a:buSzPts val="3000"/>
            </a:pPr>
            <a:endParaRPr lang="en-IN" dirty="0">
              <a:latin typeface="Google Sans"/>
            </a:endParaRPr>
          </a:p>
          <a:p>
            <a:pPr marL="571500" lvl="0" indent="-571500" algn="just">
              <a:buSzPts val="3000"/>
            </a:pPr>
            <a:endParaRPr lang="en-IN" dirty="0">
              <a:latin typeface="Google Sans"/>
            </a:endParaRPr>
          </a:p>
          <a:p>
            <a:pPr marL="571500" lvl="0" indent="-571500" algn="just">
              <a:buSzPts val="3000"/>
            </a:pPr>
            <a:endParaRPr lang="en-IN" dirty="0">
              <a:latin typeface="Google Sans"/>
            </a:endParaRPr>
          </a:p>
          <a:p>
            <a:pPr marL="571500" lvl="0" indent="-571500" algn="just">
              <a:buSzPts val="3000"/>
            </a:pPr>
            <a:endParaRPr lang="en-IN" dirty="0">
              <a:latin typeface="Google Sans"/>
            </a:endParaRPr>
          </a:p>
          <a:p>
            <a:pPr marL="571500" lvl="0" indent="-571500" algn="just">
              <a:buSzPts val="3000"/>
            </a:pPr>
            <a:endParaRPr lang="en-IN" dirty="0">
              <a:latin typeface="Google Sans"/>
            </a:endParaRPr>
          </a:p>
          <a:p>
            <a:pPr marL="571500" lvl="0" indent="-571500" algn="just">
              <a:buSzPts val="3000"/>
            </a:pPr>
            <a:endParaRPr lang="en-IN" dirty="0">
              <a:latin typeface="Google Sans"/>
            </a:endParaRPr>
          </a:p>
          <a:p>
            <a:pPr marL="571500" lvl="0" indent="-571500" algn="just">
              <a:buSzPts val="3000"/>
            </a:pPr>
            <a:endParaRPr lang="en-IN" dirty="0">
              <a:latin typeface="Google Sans"/>
            </a:endParaRPr>
          </a:p>
          <a:p>
            <a:pPr marL="571500" lvl="0" indent="-571500" algn="just">
              <a:buSzPts val="3000"/>
            </a:pPr>
            <a:endParaRPr lang="en-IN" dirty="0">
              <a:latin typeface="Google Sans"/>
            </a:endParaRPr>
          </a:p>
          <a:p>
            <a:pPr marL="571500" lvl="0" indent="-571500" algn="just">
              <a:buSzPts val="3000"/>
            </a:pPr>
            <a:endParaRPr lang="en-IN" dirty="0">
              <a:latin typeface="Google Sans"/>
            </a:endParaRPr>
          </a:p>
          <a:p>
            <a:pPr marL="571500" lvl="0" indent="-571500" algn="just">
              <a:buSzPts val="3000"/>
            </a:pPr>
            <a:endParaRPr lang="en-IN" dirty="0">
              <a:latin typeface="Google Sans"/>
            </a:endParaRPr>
          </a:p>
          <a:p>
            <a:pPr marL="571500" lvl="0" indent="-571500" algn="just">
              <a:buSzPts val="3000"/>
            </a:pPr>
            <a:endParaRPr lang="en-IN" dirty="0">
              <a:latin typeface="Google Sans"/>
            </a:endParaRPr>
          </a:p>
          <a:p>
            <a:pPr marL="0" lvl="0" indent="0" algn="just">
              <a:buSzPts val="3000"/>
              <a:buNone/>
            </a:pPr>
            <a:endParaRPr dirty="0">
              <a:latin typeface="Google Sans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A9317F-C980-3083-F43E-E35524BE0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568" y="1951864"/>
            <a:ext cx="10801350" cy="981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841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4AFA803-9390-B001-7972-0AA024A4B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Google Shape;61;p5">
            <a:extLst>
              <a:ext uri="{FF2B5EF4-FFF2-40B4-BE49-F238E27FC236}">
                <a16:creationId xmlns:a16="http://schemas.microsoft.com/office/drawing/2014/main" id="{2B410952-5E1F-FCE9-FAE1-5EBFDD7073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8176" y="208694"/>
            <a:ext cx="21862800" cy="18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5400" b="1" dirty="0">
                <a:latin typeface="Google Sans"/>
              </a:rPr>
              <a:t>Fashion Sketch2Runway – Pipeline</a:t>
            </a:r>
            <a:endParaRPr sz="5400" b="1" dirty="0">
              <a:latin typeface="Google Sans"/>
            </a:endParaRPr>
          </a:p>
        </p:txBody>
      </p:sp>
      <p:pic>
        <p:nvPicPr>
          <p:cNvPr id="9224" name="Picture 8">
            <a:extLst>
              <a:ext uri="{FF2B5EF4-FFF2-40B4-BE49-F238E27FC236}">
                <a16:creationId xmlns:a16="http://schemas.microsoft.com/office/drawing/2014/main" id="{10E80C26-3BAA-855B-EEF1-8C4E62B06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063" y="1564017"/>
            <a:ext cx="4914513" cy="714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134211-5C91-480A-F5FA-855B24E5B18D}"/>
              </a:ext>
            </a:extLst>
          </p:cNvPr>
          <p:cNvSpPr txBox="1"/>
          <p:nvPr/>
        </p:nvSpPr>
        <p:spPr>
          <a:xfrm>
            <a:off x="7147393" y="8955866"/>
            <a:ext cx="4425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4285F4"/>
                </a:solidFill>
                <a:latin typeface="Google Sans"/>
              </a:rPr>
              <a:t>Step 2: Generate 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DA6181-9647-E5B6-5877-A54309B4568C}"/>
              </a:ext>
            </a:extLst>
          </p:cNvPr>
          <p:cNvSpPr/>
          <p:nvPr/>
        </p:nvSpPr>
        <p:spPr>
          <a:xfrm>
            <a:off x="1924229" y="1564017"/>
            <a:ext cx="4549765" cy="1031004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39DF1F-9EF5-24EA-892C-DCA9E5853CDC}"/>
              </a:ext>
            </a:extLst>
          </p:cNvPr>
          <p:cNvSpPr/>
          <p:nvPr/>
        </p:nvSpPr>
        <p:spPr>
          <a:xfrm>
            <a:off x="12229262" y="1568845"/>
            <a:ext cx="4657530" cy="1030521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228" name="Picture 12">
            <a:extLst>
              <a:ext uri="{FF2B5EF4-FFF2-40B4-BE49-F238E27FC236}">
                <a16:creationId xmlns:a16="http://schemas.microsoft.com/office/drawing/2014/main" id="{13BA0D23-06E6-3C8D-EC09-4F18BF06B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9262" y="1564016"/>
            <a:ext cx="4657530" cy="714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D6C2E5F-112C-43DB-9D7A-89D478382D9E}"/>
              </a:ext>
            </a:extLst>
          </p:cNvPr>
          <p:cNvSpPr/>
          <p:nvPr/>
        </p:nvSpPr>
        <p:spPr>
          <a:xfrm>
            <a:off x="6883680" y="1568846"/>
            <a:ext cx="4935896" cy="1030521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8F92B4-08BC-81B5-F5C3-438DA45C5C45}"/>
              </a:ext>
            </a:extLst>
          </p:cNvPr>
          <p:cNvSpPr txBox="1"/>
          <p:nvPr/>
        </p:nvSpPr>
        <p:spPr>
          <a:xfrm>
            <a:off x="7003419" y="9738295"/>
            <a:ext cx="45698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chemeClr val="bg1">
                    <a:lumMod val="50000"/>
                  </a:schemeClr>
                </a:solidFill>
              </a:rPr>
              <a:t>Convert the sketch to a photorealistic full body portrait of a fashion model wearing a chic dress</a:t>
            </a:r>
            <a:endParaRPr lang="en-IN" sz="6000" b="1" dirty="0">
              <a:solidFill>
                <a:schemeClr val="bg1">
                  <a:lumMod val="50000"/>
                </a:schemeClr>
              </a:solidFill>
              <a:latin typeface="Google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9DF675-6E92-288D-E9B3-E1448757D2D4}"/>
              </a:ext>
            </a:extLst>
          </p:cNvPr>
          <p:cNvSpPr txBox="1"/>
          <p:nvPr/>
        </p:nvSpPr>
        <p:spPr>
          <a:xfrm>
            <a:off x="12907736" y="8953451"/>
            <a:ext cx="3564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C000"/>
                </a:solidFill>
                <a:latin typeface="Google Sans"/>
              </a:rPr>
              <a:t>Step 3: Edit Image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3B354F-1D61-D505-65CE-06F0044AE447}"/>
              </a:ext>
            </a:extLst>
          </p:cNvPr>
          <p:cNvSpPr txBox="1"/>
          <p:nvPr/>
        </p:nvSpPr>
        <p:spPr>
          <a:xfrm>
            <a:off x="12472278" y="9715135"/>
            <a:ext cx="41714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chemeClr val="bg1">
                    <a:lumMod val="50000"/>
                  </a:schemeClr>
                </a:solidFill>
              </a:rPr>
              <a:t>Add a beautiful matching bracelet that goes well with her dress</a:t>
            </a:r>
            <a:endParaRPr lang="en-IN" sz="8800" b="1" dirty="0">
              <a:solidFill>
                <a:schemeClr val="bg1">
                  <a:lumMod val="50000"/>
                </a:schemeClr>
              </a:solidFill>
              <a:latin typeface="Google San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3A68AF-CED0-35B8-B533-C48D6A0D28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915" y="2189272"/>
            <a:ext cx="4033070" cy="628408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1108217-C18E-65A0-A7BC-E3B57D49F8DF}"/>
              </a:ext>
            </a:extLst>
          </p:cNvPr>
          <p:cNvSpPr txBox="1"/>
          <p:nvPr/>
        </p:nvSpPr>
        <p:spPr>
          <a:xfrm>
            <a:off x="2333915" y="8953451"/>
            <a:ext cx="3564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E73021"/>
                </a:solidFill>
                <a:latin typeface="Google Sans"/>
              </a:rPr>
              <a:t>Step 1: Draw Sketch</a:t>
            </a:r>
          </a:p>
        </p:txBody>
      </p:sp>
      <p:pic>
        <p:nvPicPr>
          <p:cNvPr id="18" name="White Dress with Yellow Polka Dots #gemini #veo3 #googlecloud">
            <a:hlinkClick r:id="" action="ppaction://media"/>
            <a:extLst>
              <a:ext uri="{FF2B5EF4-FFF2-40B4-BE49-F238E27FC236}">
                <a16:creationId xmlns:a16="http://schemas.microsoft.com/office/drawing/2014/main" id="{B3F02492-E957-932A-962F-A40F4179139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7560191" y="1609871"/>
            <a:ext cx="4403834" cy="71032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AC99BBB-8988-D1E9-E57A-0D72C2A30BF6}"/>
              </a:ext>
            </a:extLst>
          </p:cNvPr>
          <p:cNvSpPr/>
          <p:nvPr/>
        </p:nvSpPr>
        <p:spPr>
          <a:xfrm>
            <a:off x="17560192" y="1568845"/>
            <a:ext cx="4403834" cy="1030521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1BD3B6-D2FC-D72A-C0E1-2526F3B53D1A}"/>
              </a:ext>
            </a:extLst>
          </p:cNvPr>
          <p:cNvSpPr txBox="1"/>
          <p:nvPr/>
        </p:nvSpPr>
        <p:spPr>
          <a:xfrm>
            <a:off x="17713978" y="8953451"/>
            <a:ext cx="4096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199B3C"/>
                </a:solidFill>
                <a:latin typeface="Google Sans"/>
              </a:rPr>
              <a:t>Step 4: Generate Video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8F15B1A-D0B2-29BA-D872-5EE0A641FBE4}"/>
              </a:ext>
            </a:extLst>
          </p:cNvPr>
          <p:cNvSpPr/>
          <p:nvPr/>
        </p:nvSpPr>
        <p:spPr>
          <a:xfrm>
            <a:off x="8091374" y="11613900"/>
            <a:ext cx="2694814" cy="721169"/>
          </a:xfrm>
          <a:prstGeom prst="roundRect">
            <a:avLst/>
          </a:prstGeom>
          <a:solidFill>
            <a:srgbClr val="4285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Google Sans"/>
              </a:rPr>
              <a:t>Gemini 2.5 Flash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06CF4EE-5A54-1C6F-3219-B500FF1BFE9A}"/>
              </a:ext>
            </a:extLst>
          </p:cNvPr>
          <p:cNvSpPr/>
          <p:nvPr/>
        </p:nvSpPr>
        <p:spPr>
          <a:xfrm>
            <a:off x="13181271" y="11545702"/>
            <a:ext cx="2694814" cy="721169"/>
          </a:xfrm>
          <a:prstGeom prst="roundRect">
            <a:avLst/>
          </a:prstGeom>
          <a:solidFill>
            <a:srgbClr val="FBBC0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Google Sans"/>
              </a:rPr>
              <a:t>Gemini 2.5 Flash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4227301-3A78-F52D-FA64-6331A7799C81}"/>
              </a:ext>
            </a:extLst>
          </p:cNvPr>
          <p:cNvSpPr/>
          <p:nvPr/>
        </p:nvSpPr>
        <p:spPr>
          <a:xfrm>
            <a:off x="18967040" y="11554502"/>
            <a:ext cx="1590133" cy="721169"/>
          </a:xfrm>
          <a:prstGeom prst="roundRect">
            <a:avLst/>
          </a:prstGeom>
          <a:solidFill>
            <a:srgbClr val="199B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Google Sans"/>
              </a:rPr>
              <a:t>Veo 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0F0DE83-6F1E-E9B5-D9C6-0649AC58AD35}"/>
              </a:ext>
            </a:extLst>
          </p:cNvPr>
          <p:cNvSpPr/>
          <p:nvPr/>
        </p:nvSpPr>
        <p:spPr>
          <a:xfrm>
            <a:off x="3458357" y="11545701"/>
            <a:ext cx="1590133" cy="721169"/>
          </a:xfrm>
          <a:prstGeom prst="roundRect">
            <a:avLst/>
          </a:prstGeom>
          <a:solidFill>
            <a:srgbClr val="E730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Google Sans"/>
              </a:rPr>
              <a:t>Input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7542D7-D398-26FD-02A9-32744FAEA7E2}"/>
              </a:ext>
            </a:extLst>
          </p:cNvPr>
          <p:cNvSpPr txBox="1"/>
          <p:nvPr/>
        </p:nvSpPr>
        <p:spPr>
          <a:xfrm>
            <a:off x="17676357" y="9778516"/>
            <a:ext cx="41714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chemeClr val="bg1">
                    <a:lumMod val="50000"/>
                  </a:schemeClr>
                </a:solidFill>
              </a:rPr>
              <a:t>She walks forward gracefully with a smile. Add runway music</a:t>
            </a:r>
            <a:endParaRPr lang="en-IN" sz="2800" b="1" dirty="0">
              <a:solidFill>
                <a:schemeClr val="bg1">
                  <a:lumMod val="50000"/>
                </a:schemeClr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879132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58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44544722-7651-C6CE-8224-88140BBD4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51499" y="637952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Google Shape;56;p4">
            <a:extLst>
              <a:ext uri="{FF2B5EF4-FFF2-40B4-BE49-F238E27FC236}">
                <a16:creationId xmlns:a16="http://schemas.microsoft.com/office/drawing/2014/main" id="{98BD8661-4DD4-E133-ACF4-BF896628B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11723" y="6250748"/>
            <a:ext cx="12287100" cy="121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7200" b="1" dirty="0">
                <a:solidFill>
                  <a:srgbClr val="2B82FB"/>
                </a:solidFill>
                <a:latin typeface="Google Sans"/>
              </a:rPr>
              <a:t>Project Demonstration</a:t>
            </a:r>
            <a:endParaRPr sz="7200" b="1" dirty="0">
              <a:solidFill>
                <a:srgbClr val="2B82FB"/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5448755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7E9930F-D008-35E8-CDD1-DB6A6495F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Google Shape;61;p5">
            <a:extLst>
              <a:ext uri="{FF2B5EF4-FFF2-40B4-BE49-F238E27FC236}">
                <a16:creationId xmlns:a16="http://schemas.microsoft.com/office/drawing/2014/main" id="{C1C5648C-FA04-DD29-BC7C-CCA113B5C2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495" y="337546"/>
            <a:ext cx="21862800" cy="18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5400" b="1" dirty="0">
                <a:latin typeface="Google Sans"/>
              </a:rPr>
              <a:t>Steps to Install</a:t>
            </a:r>
            <a:endParaRPr sz="5400" b="1" dirty="0">
              <a:latin typeface="Google Sans"/>
            </a:endParaRPr>
          </a:p>
        </p:txBody>
      </p:sp>
      <p:sp>
        <p:nvSpPr>
          <p:cNvPr id="62" name="Google Shape;62;p5">
            <a:extLst>
              <a:ext uri="{FF2B5EF4-FFF2-40B4-BE49-F238E27FC236}">
                <a16:creationId xmlns:a16="http://schemas.microsoft.com/office/drawing/2014/main" id="{16F3848D-1BB0-1BEC-C135-955708D026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0495" y="2157046"/>
            <a:ext cx="21862800" cy="1066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Google Sans"/>
              </a:rPr>
              <a:t>Clone the repository on your local machine.</a:t>
            </a:r>
          </a:p>
          <a:p>
            <a:pPr marL="0" indent="0">
              <a:buNone/>
            </a:pPr>
            <a:endParaRPr lang="en-US" dirty="0">
              <a:latin typeface="Google Sans"/>
            </a:endParaRPr>
          </a:p>
          <a:p>
            <a:r>
              <a:rPr lang="en-US" dirty="0">
                <a:latin typeface="Google Sans"/>
              </a:rPr>
              <a:t>Navigate to </a:t>
            </a:r>
            <a:r>
              <a:rPr lang="en-US" u="sng" dirty="0">
                <a:solidFill>
                  <a:srgbClr val="4285F4"/>
                </a:solidFill>
                <a:latin typeface="Google Sans"/>
              </a:rPr>
              <a:t>cd sketch2runway</a:t>
            </a:r>
            <a:r>
              <a:rPr lang="en-US" dirty="0">
                <a:latin typeface="Google Sans"/>
              </a:rPr>
              <a:t> directory.</a:t>
            </a:r>
          </a:p>
          <a:p>
            <a:pPr marL="0" indent="0">
              <a:buNone/>
            </a:pPr>
            <a:endParaRPr lang="en-US" dirty="0">
              <a:latin typeface="Google Sans"/>
            </a:endParaRPr>
          </a:p>
          <a:p>
            <a:r>
              <a:rPr lang="en-US" dirty="0">
                <a:latin typeface="Google Sans"/>
              </a:rPr>
              <a:t>Run </a:t>
            </a:r>
            <a:r>
              <a:rPr lang="en-US" u="sng" dirty="0">
                <a:solidFill>
                  <a:srgbClr val="4285F4"/>
                </a:solidFill>
                <a:latin typeface="Google Sans"/>
              </a:rPr>
              <a:t>pip install -r requirements.txt</a:t>
            </a:r>
            <a:r>
              <a:rPr lang="en-US" dirty="0">
                <a:latin typeface="Google Sans"/>
              </a:rPr>
              <a:t> to install the packages.</a:t>
            </a:r>
          </a:p>
          <a:p>
            <a:pPr marL="0" indent="0">
              <a:buNone/>
            </a:pPr>
            <a:endParaRPr lang="en-US" dirty="0">
              <a:latin typeface="Google Sans"/>
            </a:endParaRPr>
          </a:p>
          <a:p>
            <a:r>
              <a:rPr lang="en-US" dirty="0">
                <a:latin typeface="Google Sans"/>
              </a:rPr>
              <a:t>Open .env file and configure your GEMINI_API_KEY, GCP_PROJECT_ID, GCP_BUCKET_NAME.</a:t>
            </a:r>
          </a:p>
          <a:p>
            <a:endParaRPr lang="en-US" dirty="0">
              <a:latin typeface="Google Sans"/>
            </a:endParaRPr>
          </a:p>
          <a:p>
            <a:r>
              <a:rPr lang="en-US" dirty="0">
                <a:latin typeface="Google Sans"/>
              </a:rPr>
              <a:t>Run </a:t>
            </a:r>
            <a:r>
              <a:rPr lang="en-US" u="sng" dirty="0">
                <a:solidFill>
                  <a:srgbClr val="4285F4"/>
                </a:solidFill>
                <a:latin typeface="Google Sans"/>
              </a:rPr>
              <a:t>flask run</a:t>
            </a:r>
            <a:r>
              <a:rPr lang="en-US" dirty="0">
                <a:latin typeface="Google Sans"/>
              </a:rPr>
              <a:t> to start the server.</a:t>
            </a:r>
          </a:p>
          <a:p>
            <a:endParaRPr lang="en-US" dirty="0">
              <a:latin typeface="Google Sans"/>
            </a:endParaRPr>
          </a:p>
          <a:p>
            <a:r>
              <a:rPr lang="en-US" dirty="0">
                <a:latin typeface="Google Sans"/>
              </a:rPr>
              <a:t>Open </a:t>
            </a:r>
            <a:r>
              <a:rPr lang="en-US" u="sng" dirty="0">
                <a:solidFill>
                  <a:srgbClr val="4285F4"/>
                </a:solidFill>
                <a:latin typeface="Google Sans"/>
              </a:rPr>
              <a:t>localhost:5000</a:t>
            </a:r>
            <a:r>
              <a:rPr lang="en-US" dirty="0">
                <a:latin typeface="Google Sans"/>
              </a:rPr>
              <a:t> on your web browser to bring up the web UI.</a:t>
            </a:r>
          </a:p>
        </p:txBody>
      </p:sp>
    </p:spTree>
    <p:extLst>
      <p:ext uri="{BB962C8B-B14F-4D97-AF65-F5344CB8AC3E}">
        <p14:creationId xmlns:p14="http://schemas.microsoft.com/office/powerpoint/2010/main" val="14478131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D0DC249-D18D-9873-4661-99D2451C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Google Shape;61;p5">
            <a:extLst>
              <a:ext uri="{FF2B5EF4-FFF2-40B4-BE49-F238E27FC236}">
                <a16:creationId xmlns:a16="http://schemas.microsoft.com/office/drawing/2014/main" id="{1FB01B40-3C93-DC0A-DC3F-D01DDE92E3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495" y="337546"/>
            <a:ext cx="21862800" cy="18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5400" b="1" dirty="0">
                <a:latin typeface="Google Sans"/>
              </a:rPr>
              <a:t>Demonstration</a:t>
            </a:r>
            <a:endParaRPr sz="5400" b="1" dirty="0">
              <a:latin typeface="Google Sans"/>
            </a:endParaRPr>
          </a:p>
        </p:txBody>
      </p:sp>
      <p:pic>
        <p:nvPicPr>
          <p:cNvPr id="10242" name="Picture 2" descr="No alternative text description for this image">
            <a:extLst>
              <a:ext uri="{FF2B5EF4-FFF2-40B4-BE49-F238E27FC236}">
                <a16:creationId xmlns:a16="http://schemas.microsoft.com/office/drawing/2014/main" id="{2519979A-F0A7-F61E-BEDD-81FAEF444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827" y="1623646"/>
            <a:ext cx="15674581" cy="10835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01851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471529A5-0163-96AE-C5FF-AE1D2935A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51499" y="637952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Google Shape;56;p4">
            <a:extLst>
              <a:ext uri="{FF2B5EF4-FFF2-40B4-BE49-F238E27FC236}">
                <a16:creationId xmlns:a16="http://schemas.microsoft.com/office/drawing/2014/main" id="{355B43A7-B900-AE3F-AB08-52B2B3D9BF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8277" y="6250748"/>
            <a:ext cx="12287100" cy="121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7200" b="1" dirty="0">
                <a:solidFill>
                  <a:srgbClr val="2B82FB"/>
                </a:solidFill>
                <a:latin typeface="Google Sans"/>
              </a:rPr>
              <a:t>Resources</a:t>
            </a:r>
            <a:endParaRPr sz="7200" b="1" dirty="0">
              <a:solidFill>
                <a:srgbClr val="2B82FB"/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8772860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Google Shape;270;p26"/>
          <p:cNvSpPr txBox="1">
            <a:spLocks noGrp="1"/>
          </p:cNvSpPr>
          <p:nvPr>
            <p:ph type="title"/>
          </p:nvPr>
        </p:nvSpPr>
        <p:spPr>
          <a:xfrm>
            <a:off x="890492" y="451618"/>
            <a:ext cx="21862800" cy="18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5400" b="1" dirty="0">
                <a:solidFill>
                  <a:srgbClr val="2B82FB"/>
                </a:solidFill>
                <a:latin typeface="Google Sans"/>
                <a:cs typeface="Courier New" panose="02070309020205020404" pitchFamily="49" charset="0"/>
              </a:rPr>
              <a:t>Resources</a:t>
            </a:r>
            <a:endParaRPr sz="5400" b="1" dirty="0">
              <a:solidFill>
                <a:srgbClr val="2B82FB"/>
              </a:solidFill>
              <a:latin typeface="Google Sans"/>
              <a:cs typeface="Courier New" panose="020703090202050204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AC4A5-F1CE-CE33-AC16-526558A9B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0492" y="1825853"/>
            <a:ext cx="22788658" cy="10064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GitHub repository: </a:t>
            </a:r>
            <a:b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</a:br>
            <a:r>
              <a:rPr lang="en-US" altLang="en-US" sz="3600" dirty="0">
                <a:solidFill>
                  <a:srgbClr val="4285F4"/>
                </a:solidFill>
                <a:latin typeface="Google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https://github.com/margaretmz/sketch2runway</a:t>
            </a:r>
            <a:endParaRPr lang="en-US" altLang="en-US" sz="3600" dirty="0">
              <a:solidFill>
                <a:srgbClr val="4285F4"/>
              </a:solidFill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3600" dirty="0">
              <a:solidFill>
                <a:srgbClr val="4285F4"/>
              </a:solidFill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3600" b="1" dirty="0" err="1">
                <a:solidFill>
                  <a:schemeClr val="tx1"/>
                </a:solidFill>
                <a:latin typeface="Google Sans"/>
              </a:rPr>
              <a:t>Colab</a:t>
            </a:r>
            <a:r>
              <a:rPr lang="en-US" altLang="en-US" sz="3600" b="1" dirty="0">
                <a:solidFill>
                  <a:schemeClr val="tx1"/>
                </a:solidFill>
                <a:latin typeface="Google Sans"/>
              </a:rPr>
              <a:t> notebook:</a:t>
            </a:r>
            <a:br>
              <a:rPr lang="en-US" altLang="en-US" sz="3600" b="1" dirty="0">
                <a:solidFill>
                  <a:schemeClr val="tx1"/>
                </a:solidFill>
                <a:latin typeface="Google Sans"/>
              </a:rPr>
            </a:br>
            <a:r>
              <a:rPr lang="en-US" altLang="en-US" sz="3600" dirty="0">
                <a:solidFill>
                  <a:srgbClr val="4285F4"/>
                </a:solidFill>
                <a:latin typeface="Google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https://github.com/margaretmz/sketch2runway/blob/main/Sketch2Runway.ipynb</a:t>
            </a:r>
            <a:endParaRPr lang="en-US" altLang="en-US" sz="3600" dirty="0">
              <a:solidFill>
                <a:srgbClr val="4285F4"/>
              </a:solidFill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3600" b="1" dirty="0">
                <a:solidFill>
                  <a:schemeClr val="tx1"/>
                </a:solidFill>
                <a:latin typeface="Google Sans"/>
              </a:rPr>
              <a:t>YouTube Tutorial: </a:t>
            </a:r>
            <a:br>
              <a:rPr lang="en-US" altLang="en-US" sz="3600" dirty="0">
                <a:solidFill>
                  <a:schemeClr val="tx1"/>
                </a:solidFill>
                <a:latin typeface="Google Sans"/>
              </a:rPr>
            </a:br>
            <a:r>
              <a:rPr lang="en-US" altLang="en-US" sz="3600" dirty="0">
                <a:solidFill>
                  <a:srgbClr val="4285F4"/>
                </a:solidFill>
                <a:latin typeface="Google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https://www.youtube.com/watch?v=9Bo5sEVoVQk</a:t>
            </a:r>
            <a:endParaRPr lang="en-US" altLang="en-US" sz="3600" dirty="0">
              <a:solidFill>
                <a:srgbClr val="4285F4"/>
              </a:solidFill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Medium blog: 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</a:br>
            <a:r>
              <a:rPr lang="en-US" altLang="en-US" sz="3600" dirty="0">
                <a:solidFill>
                  <a:srgbClr val="4285F4"/>
                </a:solidFill>
                <a:latin typeface="Google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https://medium.com/google-developer-experts/fashion-sketch2runway-with-gemini2flash-veo3-ced1e2776fea</a:t>
            </a:r>
            <a:endParaRPr lang="en-US" altLang="en-US" sz="3600" dirty="0">
              <a:solidFill>
                <a:srgbClr val="4285F4"/>
              </a:solidFill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Gemini API documentation: 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</a:br>
            <a:r>
              <a:rPr lang="en-US" altLang="en-US" sz="3600" dirty="0">
                <a:solidFill>
                  <a:srgbClr val="4285F4"/>
                </a:solidFill>
                <a:latin typeface="Google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https://ai.google.dev/gemini-api/docs</a:t>
            </a:r>
            <a:endParaRPr lang="en-US" altLang="en-US" sz="3600" dirty="0">
              <a:solidFill>
                <a:srgbClr val="4285F4"/>
              </a:solidFill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Vertex AI Studio: 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</a:br>
            <a:r>
              <a:rPr lang="en-US" altLang="en-US" sz="3600" dirty="0">
                <a:solidFill>
                  <a:srgbClr val="4285F4"/>
                </a:solidFill>
                <a:latin typeface="Google Sa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https://console.cloud.google.com/vertex-ai/studio/</a:t>
            </a:r>
            <a:endParaRPr lang="en-US" altLang="en-US" sz="3600" dirty="0">
              <a:solidFill>
                <a:srgbClr val="4285F4"/>
              </a:solidFill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3600" dirty="0">
              <a:solidFill>
                <a:schemeClr val="tx1"/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816573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51499" y="637952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1435" y="5600000"/>
            <a:ext cx="12287100" cy="2600000"/>
          </a:xfrm>
        </p:spPr>
        <p:txBody>
          <a:bodyPr anchor="ctr"/>
          <a:lstStyle/>
          <a:p>
            <a:pPr algn="ctr"/>
            <a:r>
              <a:rPr sz="7200">
                <a:solidFill>
                  <a:srgbClr val="2B82FB"/>
                </a:solidFill>
                <a:latin typeface="Google Sans"/>
                <a:ea typeface="Google Sans"/>
                <a:cs typeface="Google Sans"/>
              </a:rPr>
              <a:t>WebGemma: On-device AI in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4343400"/>
            <a:ext cx="12344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10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PART 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1260600" y="520017"/>
            <a:ext cx="21862800" cy="11386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/>
              <a:t>Content</a:t>
            </a:r>
            <a:endParaRPr sz="7200" dirty="0"/>
          </a:p>
        </p:txBody>
      </p:sp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1260600" y="2108122"/>
            <a:ext cx="22603010" cy="100101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Introduction to Vision Language Models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Architecture of a typical VLM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Google’s open VLMs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Introduction to Gemma 4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Matryoshka Transformer (</a:t>
            </a:r>
            <a:r>
              <a:rPr lang="en-US" sz="4400" dirty="0" err="1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MatFormer</a:t>
            </a:r>
            <a:r>
              <a:rPr lang="en-US" sz="44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Hands-on: Inference Gemma 4 on the browser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Demo: Serve and inference Gemma 4 on TPUs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Resources</a:t>
            </a:r>
            <a:endParaRPr sz="44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0C764F-AD5B-16C0-4FD7-F2BC6C2FDD05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277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>
            <a:spLocks noGrp="1"/>
          </p:cNvSpPr>
          <p:nvPr>
            <p:ph type="title"/>
          </p:nvPr>
        </p:nvSpPr>
        <p:spPr>
          <a:xfrm>
            <a:off x="4411723" y="6858000"/>
            <a:ext cx="12287100" cy="12145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2B82FB"/>
                </a:solidFill>
              </a:rPr>
              <a:t>Vision Language Models</a:t>
            </a:r>
            <a:endParaRPr sz="7200" dirty="0">
              <a:solidFill>
                <a:srgbClr val="2B82FB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2F1C8A-9083-58C7-016A-F7CA7B347924}"/>
              </a:ext>
            </a:extLst>
          </p:cNvPr>
          <p:cNvSpPr/>
          <p:nvPr/>
        </p:nvSpPr>
        <p:spPr>
          <a:xfrm>
            <a:off x="551499" y="637952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479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890495" y="637445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/>
              <a:t>Vision Language Models</a:t>
            </a:r>
            <a:endParaRPr sz="5400" b="1" dirty="0"/>
          </a:p>
        </p:txBody>
      </p:sp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890495" y="2700434"/>
            <a:ext cx="22603010" cy="100101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indent="-571500" algn="just">
              <a:buSzPct val="75000"/>
            </a:pPr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Vision Language Models are </a:t>
            </a:r>
            <a:r>
              <a:rPr lang="en-US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multimodal</a:t>
            </a:r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models that learn from images and text, generating text outputs from image and text inputs.</a:t>
            </a:r>
          </a:p>
          <a:p>
            <a:pPr marL="571500" indent="-571500" algn="just">
              <a:buSzPct val="75000"/>
            </a:pPr>
            <a:endParaRPr lang="en-US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They excel in </a:t>
            </a:r>
            <a:r>
              <a:rPr lang="en-US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zero-shot</a:t>
            </a:r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capabilities, generalization, and various tasks like image recognition, question answering, and document understanding.</a:t>
            </a:r>
          </a:p>
          <a:p>
            <a:pPr marL="571500" indent="-571500" algn="just">
              <a:buSzPct val="75000"/>
            </a:pPr>
            <a:endParaRPr lang="en-US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r>
              <a:rPr lang="en-US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These models can also capture spatial properties and output bounding boxes or segmentation masks for specific subjects.</a:t>
            </a:r>
          </a:p>
          <a:p>
            <a:pPr marL="571500" indent="-571500" algn="just">
              <a:buSzPct val="75000"/>
            </a:pPr>
            <a:endParaRPr lang="en-US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 algn="just">
              <a:buSzPct val="75000"/>
              <a:buNone/>
            </a:pPr>
            <a:endParaRPr lang="en-US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F5B5D4-B1F3-EA0A-8311-A82721C9CB96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426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881459" y="414421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/>
              <a:t>Vision Language Models</a:t>
            </a:r>
            <a:endParaRPr sz="5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45C45F-93E1-80D4-33E6-978A02574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276" y="1660461"/>
            <a:ext cx="18615792" cy="1039507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E14524-3D20-A616-ABB2-17AB3EE5B21E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573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931222" y="226575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/>
              <a:t>Architecture of a typical VLM</a:t>
            </a:r>
            <a:endParaRPr sz="5400" b="1" dirty="0"/>
          </a:p>
        </p:txBody>
      </p:sp>
      <p:pic>
        <p:nvPicPr>
          <p:cNvPr id="3074" name="Picture 2" descr="Photos icon PNG and SVG Vector Free Download">
            <a:extLst>
              <a:ext uri="{FF2B5EF4-FFF2-40B4-BE49-F238E27FC236}">
                <a16:creationId xmlns:a16="http://schemas.microsoft.com/office/drawing/2014/main" id="{84E5E736-33F1-794D-845A-EDE7D306E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370" y="10132767"/>
            <a:ext cx="2263060" cy="18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8046E5-6C00-9B9E-5158-F47F56C12A85}"/>
              </a:ext>
            </a:extLst>
          </p:cNvPr>
          <p:cNvSpPr/>
          <p:nvPr/>
        </p:nvSpPr>
        <p:spPr>
          <a:xfrm>
            <a:off x="4341544" y="7681067"/>
            <a:ext cx="3256156" cy="90670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 Encoder</a:t>
            </a:r>
            <a:endParaRPr lang="en-IN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C15446-7D1F-9956-8DF3-88F6E138102C}"/>
              </a:ext>
            </a:extLst>
          </p:cNvPr>
          <p:cNvCxnSpPr/>
          <p:nvPr/>
        </p:nvCxnSpPr>
        <p:spPr>
          <a:xfrm flipV="1">
            <a:off x="5746601" y="8587776"/>
            <a:ext cx="0" cy="124759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F6DA9FF-88FF-3845-5A94-D8EA56203CD7}"/>
              </a:ext>
            </a:extLst>
          </p:cNvPr>
          <p:cNvSpPr/>
          <p:nvPr/>
        </p:nvSpPr>
        <p:spPr>
          <a:xfrm>
            <a:off x="4341544" y="5466218"/>
            <a:ext cx="3256156" cy="1285567"/>
          </a:xfrm>
          <a:prstGeom prst="roundRect">
            <a:avLst/>
          </a:prstGeom>
          <a:ln>
            <a:solidFill>
              <a:srgbClr val="2B82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Multimodal Projector</a:t>
            </a:r>
            <a:endParaRPr lang="en-IN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3C51A27-38CD-79CB-C7C1-866D979D2BEA}"/>
              </a:ext>
            </a:extLst>
          </p:cNvPr>
          <p:cNvSpPr/>
          <p:nvPr/>
        </p:nvSpPr>
        <p:spPr>
          <a:xfrm>
            <a:off x="4341544" y="3622169"/>
            <a:ext cx="7181384" cy="90670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Decoder</a:t>
            </a:r>
            <a:endParaRPr lang="en-IN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D19A7D3-1BCF-85A8-417E-E571B15FBB60}"/>
              </a:ext>
            </a:extLst>
          </p:cNvPr>
          <p:cNvCxnSpPr/>
          <p:nvPr/>
        </p:nvCxnSpPr>
        <p:spPr>
          <a:xfrm flipV="1">
            <a:off x="5768900" y="6743727"/>
            <a:ext cx="0" cy="9373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DF9F2C-B5DC-FD70-53AD-29595411F863}"/>
              </a:ext>
            </a:extLst>
          </p:cNvPr>
          <p:cNvCxnSpPr/>
          <p:nvPr/>
        </p:nvCxnSpPr>
        <p:spPr>
          <a:xfrm flipV="1">
            <a:off x="5765189" y="4528878"/>
            <a:ext cx="0" cy="9373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BFBCEDF-C956-B4BF-147A-8442764C226C}"/>
              </a:ext>
            </a:extLst>
          </p:cNvPr>
          <p:cNvCxnSpPr>
            <a:cxnSpLocks/>
          </p:cNvCxnSpPr>
          <p:nvPr/>
        </p:nvCxnSpPr>
        <p:spPr>
          <a:xfrm flipV="1">
            <a:off x="9906000" y="4528878"/>
            <a:ext cx="3725" cy="153738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99D74A5-FBC6-1525-E3C3-53444B821C21}"/>
              </a:ext>
            </a:extLst>
          </p:cNvPr>
          <p:cNvSpPr txBox="1"/>
          <p:nvPr/>
        </p:nvSpPr>
        <p:spPr>
          <a:xfrm>
            <a:off x="8742554" y="6316292"/>
            <a:ext cx="2475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Text Prompt</a:t>
            </a:r>
            <a:endParaRPr lang="en-IN" sz="32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86CF8E5-A0E1-D1CE-3F03-D4BDB567F079}"/>
              </a:ext>
            </a:extLst>
          </p:cNvPr>
          <p:cNvCxnSpPr/>
          <p:nvPr/>
        </p:nvCxnSpPr>
        <p:spPr>
          <a:xfrm flipV="1">
            <a:off x="8080918" y="2684829"/>
            <a:ext cx="0" cy="9373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48C2699-3C03-E49E-440F-2F12F8CB8304}"/>
              </a:ext>
            </a:extLst>
          </p:cNvPr>
          <p:cNvSpPr txBox="1"/>
          <p:nvPr/>
        </p:nvSpPr>
        <p:spPr>
          <a:xfrm>
            <a:off x="7092176" y="1967750"/>
            <a:ext cx="2475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Text Output</a:t>
            </a:r>
            <a:endParaRPr lang="en-IN" sz="32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87766F2-1370-29F0-C767-E1055A9450DE}"/>
              </a:ext>
            </a:extLst>
          </p:cNvPr>
          <p:cNvSpPr/>
          <p:nvPr/>
        </p:nvSpPr>
        <p:spPr>
          <a:xfrm>
            <a:off x="2891884" y="3051420"/>
            <a:ext cx="9300116" cy="4332255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EA5517-E8AB-A347-9C1D-BF25FD7BDAAB}"/>
              </a:ext>
            </a:extLst>
          </p:cNvPr>
          <p:cNvSpPr/>
          <p:nvPr/>
        </p:nvSpPr>
        <p:spPr>
          <a:xfrm>
            <a:off x="8084637" y="10501650"/>
            <a:ext cx="498088" cy="49696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CB103B-5B1A-DF37-BBBE-2FD9ADFB7627}"/>
              </a:ext>
            </a:extLst>
          </p:cNvPr>
          <p:cNvSpPr txBox="1"/>
          <p:nvPr/>
        </p:nvSpPr>
        <p:spPr>
          <a:xfrm>
            <a:off x="8731405" y="10457742"/>
            <a:ext cx="6192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Frozen (not trainable)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6D43EB-78E9-0954-0448-5924106772A3}"/>
              </a:ext>
            </a:extLst>
          </p:cNvPr>
          <p:cNvSpPr/>
          <p:nvPr/>
        </p:nvSpPr>
        <p:spPr>
          <a:xfrm>
            <a:off x="8080918" y="11286480"/>
            <a:ext cx="498088" cy="496960"/>
          </a:xfrm>
          <a:prstGeom prst="rect">
            <a:avLst/>
          </a:prstGeom>
          <a:solidFill>
            <a:srgbClr val="2B82FB"/>
          </a:solidFill>
          <a:ln>
            <a:solidFill>
              <a:srgbClr val="2B82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420E28-C515-A462-A932-7E0E9EF34638}"/>
              </a:ext>
            </a:extLst>
          </p:cNvPr>
          <p:cNvSpPr txBox="1"/>
          <p:nvPr/>
        </p:nvSpPr>
        <p:spPr>
          <a:xfrm>
            <a:off x="8731404" y="11242572"/>
            <a:ext cx="6192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frozen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25E338-724A-CC7E-E304-0213FC0476E2}"/>
              </a:ext>
            </a:extLst>
          </p:cNvPr>
          <p:cNvCxnSpPr>
            <a:cxnSpLocks/>
          </p:cNvCxnSpPr>
          <p:nvPr/>
        </p:nvCxnSpPr>
        <p:spPr>
          <a:xfrm>
            <a:off x="12489366" y="5297570"/>
            <a:ext cx="187340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C053EAE-E31B-134C-687A-28A51B66E13F}"/>
              </a:ext>
            </a:extLst>
          </p:cNvPr>
          <p:cNvSpPr/>
          <p:nvPr/>
        </p:nvSpPr>
        <p:spPr>
          <a:xfrm>
            <a:off x="15669322" y="2414772"/>
            <a:ext cx="7181384" cy="90670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Decoder</a:t>
            </a:r>
            <a:endParaRPr lang="en-IN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357AF25-C941-279D-8610-451AC2BFAA18}"/>
              </a:ext>
            </a:extLst>
          </p:cNvPr>
          <p:cNvSpPr/>
          <p:nvPr/>
        </p:nvSpPr>
        <p:spPr>
          <a:xfrm>
            <a:off x="15629782" y="7491637"/>
            <a:ext cx="3256156" cy="1285567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Multimodal Projector</a:t>
            </a:r>
            <a:endParaRPr lang="en-IN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E2A16E-2B71-2E4C-21F5-3C2A169F4207}"/>
              </a:ext>
            </a:extLst>
          </p:cNvPr>
          <p:cNvSpPr txBox="1"/>
          <p:nvPr/>
        </p:nvSpPr>
        <p:spPr>
          <a:xfrm>
            <a:off x="14924050" y="4882305"/>
            <a:ext cx="867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Projected visual tokens + text embedded tokens</a:t>
            </a:r>
            <a:endParaRPr lang="en-I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A40A57-0097-26DC-A043-6F9E7C6C30CC}"/>
              </a:ext>
            </a:extLst>
          </p:cNvPr>
          <p:cNvSpPr/>
          <p:nvPr/>
        </p:nvSpPr>
        <p:spPr>
          <a:xfrm>
            <a:off x="16013151" y="5642517"/>
            <a:ext cx="512956" cy="423746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001CB68-B88E-2904-6D58-B02FDF3840B9}"/>
              </a:ext>
            </a:extLst>
          </p:cNvPr>
          <p:cNvSpPr/>
          <p:nvPr/>
        </p:nvSpPr>
        <p:spPr>
          <a:xfrm>
            <a:off x="16678507" y="5642517"/>
            <a:ext cx="512956" cy="423746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8C8C6BC-0E86-470E-75F9-A3323A8701F3}"/>
              </a:ext>
            </a:extLst>
          </p:cNvPr>
          <p:cNvSpPr/>
          <p:nvPr/>
        </p:nvSpPr>
        <p:spPr>
          <a:xfrm>
            <a:off x="17343863" y="5642517"/>
            <a:ext cx="512956" cy="423746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8AA6F62-E55B-3783-5DAB-EA0A1751901B}"/>
              </a:ext>
            </a:extLst>
          </p:cNvPr>
          <p:cNvSpPr/>
          <p:nvPr/>
        </p:nvSpPr>
        <p:spPr>
          <a:xfrm>
            <a:off x="18009219" y="5642517"/>
            <a:ext cx="512956" cy="423746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D51279F-FD23-0A45-5F16-9CEE7518FD17}"/>
              </a:ext>
            </a:extLst>
          </p:cNvPr>
          <p:cNvSpPr/>
          <p:nvPr/>
        </p:nvSpPr>
        <p:spPr>
          <a:xfrm>
            <a:off x="20161404" y="5642517"/>
            <a:ext cx="512956" cy="423746"/>
          </a:xfrm>
          <a:prstGeom prst="round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86FB86B-5A8F-C946-9231-3BBE30374FD8}"/>
              </a:ext>
            </a:extLst>
          </p:cNvPr>
          <p:cNvSpPr/>
          <p:nvPr/>
        </p:nvSpPr>
        <p:spPr>
          <a:xfrm>
            <a:off x="20826760" y="5642517"/>
            <a:ext cx="512956" cy="423746"/>
          </a:xfrm>
          <a:prstGeom prst="round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66E7818-1768-BB72-05C2-F664D3352414}"/>
              </a:ext>
            </a:extLst>
          </p:cNvPr>
          <p:cNvSpPr/>
          <p:nvPr/>
        </p:nvSpPr>
        <p:spPr>
          <a:xfrm>
            <a:off x="21492116" y="5642517"/>
            <a:ext cx="512956" cy="423746"/>
          </a:xfrm>
          <a:prstGeom prst="round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852B225-F8F5-B190-41DF-CD5F535E78D5}"/>
              </a:ext>
            </a:extLst>
          </p:cNvPr>
          <p:cNvSpPr/>
          <p:nvPr/>
        </p:nvSpPr>
        <p:spPr>
          <a:xfrm>
            <a:off x="22157472" y="5642517"/>
            <a:ext cx="512956" cy="423746"/>
          </a:xfrm>
          <a:prstGeom prst="round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86096F2-C024-CABB-F560-AC0D4A84A66E}"/>
              </a:ext>
            </a:extLst>
          </p:cNvPr>
          <p:cNvCxnSpPr>
            <a:cxnSpLocks/>
          </p:cNvCxnSpPr>
          <p:nvPr/>
        </p:nvCxnSpPr>
        <p:spPr>
          <a:xfrm flipV="1">
            <a:off x="17305996" y="6201295"/>
            <a:ext cx="0" cy="10848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CCE38BE-9DCA-1613-05B5-8DA5105FA4EA}"/>
              </a:ext>
            </a:extLst>
          </p:cNvPr>
          <p:cNvCxnSpPr>
            <a:cxnSpLocks/>
          </p:cNvCxnSpPr>
          <p:nvPr/>
        </p:nvCxnSpPr>
        <p:spPr>
          <a:xfrm flipV="1">
            <a:off x="21492116" y="6229897"/>
            <a:ext cx="0" cy="10848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E83C6A0-E815-1A67-83C0-2F7D07A5C8B3}"/>
              </a:ext>
            </a:extLst>
          </p:cNvPr>
          <p:cNvSpPr txBox="1"/>
          <p:nvPr/>
        </p:nvSpPr>
        <p:spPr>
          <a:xfrm>
            <a:off x="20249639" y="7419177"/>
            <a:ext cx="2475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Text Prompt</a:t>
            </a:r>
            <a:endParaRPr lang="en-IN" sz="32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50278E2-B43F-DD5D-D5A8-DB59F46200E3}"/>
              </a:ext>
            </a:extLst>
          </p:cNvPr>
          <p:cNvCxnSpPr>
            <a:cxnSpLocks/>
          </p:cNvCxnSpPr>
          <p:nvPr/>
        </p:nvCxnSpPr>
        <p:spPr>
          <a:xfrm flipV="1">
            <a:off x="19233298" y="3622169"/>
            <a:ext cx="0" cy="10848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8832433-73F5-7DA7-2B3F-A8E0F3D35F2C}"/>
              </a:ext>
            </a:extLst>
          </p:cNvPr>
          <p:cNvSpPr txBox="1"/>
          <p:nvPr/>
        </p:nvSpPr>
        <p:spPr>
          <a:xfrm>
            <a:off x="7762368" y="7882570"/>
            <a:ext cx="6868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{CLIP, SigLIP, MobileNet v5 etc.}</a:t>
            </a:r>
            <a:endParaRPr lang="en-IN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AC5001-9D1F-94CE-98BC-932910D2978B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9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4" grpId="0"/>
      <p:bldP spid="16" grpId="0"/>
      <p:bldP spid="19" grpId="0" animBg="1"/>
      <p:bldP spid="20" grpId="0" animBg="1"/>
      <p:bldP spid="21" grpId="0"/>
      <p:bldP spid="22" grpId="0" animBg="1"/>
      <p:bldP spid="23" grpId="0"/>
      <p:bldP spid="29" grpId="0" animBg="1"/>
      <p:bldP spid="30" grpId="0" animBg="1"/>
      <p:bldP spid="31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4" grpId="0"/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881459" y="414421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Example: Contrastive Pre-training</a:t>
            </a:r>
            <a:endParaRPr sz="5400" dirty="0"/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5D92A234-4C59-90B0-0B88-DB0633583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790" y="1909186"/>
            <a:ext cx="19715429" cy="101564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E441C2C-2F4F-68B9-5B75-3961CDC1F101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334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>
            <a:spLocks noGrp="1"/>
          </p:cNvSpPr>
          <p:nvPr>
            <p:ph type="title"/>
          </p:nvPr>
        </p:nvSpPr>
        <p:spPr>
          <a:xfrm>
            <a:off x="4411723" y="6858000"/>
            <a:ext cx="12287100" cy="11201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2B82FB"/>
                </a:solidFill>
              </a:rPr>
              <a:t>Google’s open VLMs</a:t>
            </a:r>
            <a:endParaRPr sz="7200" dirty="0">
              <a:solidFill>
                <a:srgbClr val="2B82FB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08107D-EB46-5B18-6620-64F7DACD92BF}"/>
              </a:ext>
            </a:extLst>
          </p:cNvPr>
          <p:cNvSpPr/>
          <p:nvPr/>
        </p:nvSpPr>
        <p:spPr>
          <a:xfrm>
            <a:off x="551499" y="1041988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716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3A213068-E0DC-2BFB-640D-A7192F0E9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Google Shape;160;p23">
            <a:extLst>
              <a:ext uri="{FF2B5EF4-FFF2-40B4-BE49-F238E27FC236}">
                <a16:creationId xmlns:a16="http://schemas.microsoft.com/office/drawing/2014/main" id="{CCF40434-581F-5A48-5D29-D2BD7341E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1459" y="414421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Google’s Open VLMS - History</a:t>
            </a:r>
            <a:endParaRPr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79AAD1-EC89-F70F-1409-F1351B587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7335"/>
            <a:ext cx="24384000" cy="105413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74F9B6-BCAC-C5AE-B03F-42170E8EFEB1}"/>
              </a:ext>
            </a:extLst>
          </p:cNvPr>
          <p:cNvSpPr/>
          <p:nvPr/>
        </p:nvSpPr>
        <p:spPr>
          <a:xfrm>
            <a:off x="520390" y="12610213"/>
            <a:ext cx="3392391" cy="9569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1507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E4B74786-F918-012F-F10C-EE6D07959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>
            <a:extLst>
              <a:ext uri="{FF2B5EF4-FFF2-40B4-BE49-F238E27FC236}">
                <a16:creationId xmlns:a16="http://schemas.microsoft.com/office/drawing/2014/main" id="{2EDEA588-D66C-EE53-9FB9-089C36965F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495" y="283887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PaliGemma 2 Mix</a:t>
            </a:r>
            <a:endParaRPr sz="5400" dirty="0"/>
          </a:p>
        </p:txBody>
      </p:sp>
      <p:sp>
        <p:nvSpPr>
          <p:cNvPr id="162" name="Google Shape;162;p23">
            <a:extLst>
              <a:ext uri="{FF2B5EF4-FFF2-40B4-BE49-F238E27FC236}">
                <a16:creationId xmlns:a16="http://schemas.microsoft.com/office/drawing/2014/main" id="{1D7DB473-5BCE-FFC1-C9C5-B3EB107EE8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0495" y="1311765"/>
            <a:ext cx="22603010" cy="100101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indent="-571500" algn="just">
              <a:buSzPct val="75000"/>
            </a:pPr>
            <a:r>
              <a:rPr lang="en-US" sz="3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PaliGemma 2 Mix is tuned to a mixture of tasks (PT + FT) for common use cases like object detection, segmentation, OCR, short and long captioning, and visual question answering.</a:t>
            </a:r>
          </a:p>
          <a:p>
            <a:pPr marL="571500" indent="-571500" algn="just">
              <a:buSzPct val="75000"/>
            </a:pPr>
            <a:endParaRPr lang="en-US" sz="3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r>
              <a:rPr lang="en-US" sz="3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Official support from Google for frameworks like Hugging Face Transformers, Keras, PyTorch, JAX, etc.</a:t>
            </a:r>
          </a:p>
          <a:p>
            <a:pPr marL="0" indent="0" algn="just">
              <a:buSzPct val="75000"/>
              <a:buNone/>
            </a:pP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r>
              <a:rPr lang="en-US" sz="32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Open-source contribution: </a:t>
            </a:r>
            <a:r>
              <a:rPr lang="en-US" sz="3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ONNX implementation of PaliGemma 2 to run on the browser using Transformers.js.</a:t>
            </a:r>
          </a:p>
          <a:p>
            <a:pPr marL="571500" indent="-571500" algn="just">
              <a:buSzPct val="75000"/>
            </a:pPr>
            <a:endParaRPr lang="en-US" sz="28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28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28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28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28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28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 algn="just">
              <a:buSzPct val="75000"/>
              <a:buNone/>
            </a:pPr>
            <a:endParaRPr lang="en-US" sz="28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180C32-A65B-E538-5C28-A8CE05D5E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380" y="3448507"/>
            <a:ext cx="5393092" cy="53681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FA1D0D-A2AB-8B9C-9252-E2368E939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868" y="3472679"/>
            <a:ext cx="5393092" cy="5368522"/>
          </a:xfrm>
          <a:prstGeom prst="rect">
            <a:avLst/>
          </a:prstGeom>
        </p:spPr>
      </p:pic>
      <p:pic>
        <p:nvPicPr>
          <p:cNvPr id="3078" name="Picture 6" descr="A cow standing on the beach next to a yellow sign that reads 'Warning Dangerous Rip Current' with an illustration of a large wave breaking.">
            <a:extLst>
              <a:ext uri="{FF2B5EF4-FFF2-40B4-BE49-F238E27FC236}">
                <a16:creationId xmlns:a16="http://schemas.microsoft.com/office/drawing/2014/main" id="{F26A1D5D-1A82-C02F-91D5-002714103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2356" y="3472679"/>
            <a:ext cx="5393092" cy="5393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C62311C-DC2F-E715-DDCA-A02F9BDECBD0}"/>
              </a:ext>
            </a:extLst>
          </p:cNvPr>
          <p:cNvSpPr/>
          <p:nvPr/>
        </p:nvSpPr>
        <p:spPr>
          <a:xfrm>
            <a:off x="3487974" y="3084470"/>
            <a:ext cx="2742568" cy="543085"/>
          </a:xfrm>
          <a:prstGeom prst="roundRect">
            <a:avLst/>
          </a:prstGeom>
          <a:solidFill>
            <a:srgbClr val="D1B2E8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7030A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Object Detection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1FA0479-D86B-0C3C-8327-BFD709CB0759}"/>
              </a:ext>
            </a:extLst>
          </p:cNvPr>
          <p:cNvSpPr/>
          <p:nvPr/>
        </p:nvSpPr>
        <p:spPr>
          <a:xfrm>
            <a:off x="9890759" y="3084469"/>
            <a:ext cx="2742568" cy="543085"/>
          </a:xfrm>
          <a:prstGeom prst="roundRect">
            <a:avLst/>
          </a:prstGeom>
          <a:solidFill>
            <a:srgbClr val="FCD5AA"/>
          </a:solidFill>
          <a:ln>
            <a:solidFill>
              <a:srgbClr val="FB97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FB9729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Segmentation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F8D198-9D2C-0BF8-77D1-D6F4D39F7EF2}"/>
              </a:ext>
            </a:extLst>
          </p:cNvPr>
          <p:cNvSpPr/>
          <p:nvPr/>
        </p:nvSpPr>
        <p:spPr>
          <a:xfrm>
            <a:off x="16520736" y="3084469"/>
            <a:ext cx="1996447" cy="5430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OCR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0BD89F-073A-DC19-1500-5681CBB4CAE4}"/>
              </a:ext>
            </a:extLst>
          </p:cNvPr>
          <p:cNvSpPr txBox="1"/>
          <p:nvPr/>
        </p:nvSpPr>
        <p:spPr>
          <a:xfrm>
            <a:off x="20395741" y="5646005"/>
            <a:ext cx="1930244" cy="523220"/>
          </a:xfrm>
          <a:prstGeom prst="rect">
            <a:avLst/>
          </a:prstGeom>
          <a:solidFill>
            <a:srgbClr val="DDF0C8"/>
          </a:solidFill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WARNING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E97A7A-D5A8-DCF5-AFFB-CD6B208310BC}"/>
              </a:ext>
            </a:extLst>
          </p:cNvPr>
          <p:cNvSpPr txBox="1"/>
          <p:nvPr/>
        </p:nvSpPr>
        <p:spPr>
          <a:xfrm>
            <a:off x="20395741" y="6334780"/>
            <a:ext cx="2452760" cy="523220"/>
          </a:xfrm>
          <a:prstGeom prst="rect">
            <a:avLst/>
          </a:prstGeom>
          <a:solidFill>
            <a:srgbClr val="DDF0C8"/>
          </a:solidFill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DANGEROUS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471625-91DF-50D3-E4BA-0EB104A58275}"/>
              </a:ext>
            </a:extLst>
          </p:cNvPr>
          <p:cNvSpPr txBox="1"/>
          <p:nvPr/>
        </p:nvSpPr>
        <p:spPr>
          <a:xfrm>
            <a:off x="20395741" y="7060212"/>
            <a:ext cx="2452760" cy="523220"/>
          </a:xfrm>
          <a:prstGeom prst="rect">
            <a:avLst/>
          </a:prstGeom>
          <a:solidFill>
            <a:srgbClr val="DDF0C8"/>
          </a:solidFill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RIP CURRENT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DC3D1E-619E-2AAD-274D-8319480B7CE8}"/>
              </a:ext>
            </a:extLst>
          </p:cNvPr>
          <p:cNvSpPr txBox="1"/>
          <p:nvPr/>
        </p:nvSpPr>
        <p:spPr>
          <a:xfrm>
            <a:off x="15239990" y="12653852"/>
            <a:ext cx="914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Image source: https://developers.googleblog.com/introducing-paligemma-2-mix/</a:t>
            </a:r>
          </a:p>
          <a:p>
            <a:endParaRPr lang="en-IN" sz="18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E726B8-97BF-2350-6A4D-BCEDAFB19A65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16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890495" y="248825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Zero-shot Object Detection</a:t>
            </a:r>
            <a:endParaRPr sz="5400" dirty="0"/>
          </a:p>
        </p:txBody>
      </p:sp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890495" y="1158575"/>
            <a:ext cx="22603010" cy="100101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SzPct val="75000"/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PaliGemma is capable of zero-shot object detection, meaning, without training the model on specific datasets, it can detect objects with just a text prompt.</a:t>
            </a:r>
          </a:p>
          <a:p>
            <a:pPr marL="571500" indent="-571500" algn="just">
              <a:buSzPct val="75000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SzPct val="75000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SzPct val="75000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SzPct val="75000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SzPct val="75000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SzPct val="75000"/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98" name="Picture 2" descr="Image preview">
            <a:extLst>
              <a:ext uri="{FF2B5EF4-FFF2-40B4-BE49-F238E27FC236}">
                <a16:creationId xmlns:a16="http://schemas.microsoft.com/office/drawing/2014/main" id="{4ACC2A5D-06C5-B79D-864A-C87F990D5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799" y="3313895"/>
            <a:ext cx="15989903" cy="9007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474D15D-395E-7F72-3EE2-B4AB69659F84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738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890495" y="248825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Instance Segmentation</a:t>
            </a:r>
            <a:endParaRPr sz="5400" dirty="0"/>
          </a:p>
        </p:txBody>
      </p:sp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890495" y="1158575"/>
            <a:ext cx="22603010" cy="100101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SzPct val="75000"/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PaliGemma can also segment objects in images and videos merely using a text prompt.</a:t>
            </a:r>
          </a:p>
          <a:p>
            <a:pPr marL="571500" indent="-571500" algn="just">
              <a:buSzPct val="75000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SzPct val="75000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SzPct val="75000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SzPct val="75000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SzPct val="75000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SzPct val="75000"/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122" name="Picture 2" descr="No alt text provided for this image">
            <a:extLst>
              <a:ext uri="{FF2B5EF4-FFF2-40B4-BE49-F238E27FC236}">
                <a16:creationId xmlns:a16="http://schemas.microsoft.com/office/drawing/2014/main" id="{1BD4C63E-1EDE-85A9-F09D-0E907B5D3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0" y="2547308"/>
            <a:ext cx="16628924" cy="9367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42C5F91-EEE9-38BD-ABA7-A92A01B18D1C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344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890495" y="248825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How does it work?</a:t>
            </a:r>
            <a:endParaRPr sz="5400" dirty="0"/>
          </a:p>
        </p:txBody>
      </p:sp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890495" y="1158575"/>
            <a:ext cx="22603010" cy="100101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indent="-571500" algn="just">
              <a:buSzPct val="75000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SzPct val="75000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SzPct val="75000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SzPct val="75000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SzPct val="75000"/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C8960049-8E45-9698-72BA-480B6EE20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705" y="1346683"/>
            <a:ext cx="9070737" cy="5261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994008D-CDF5-E95B-0F63-D7B6FAC0B1FB}"/>
              </a:ext>
            </a:extLst>
          </p:cNvPr>
          <p:cNvSpPr/>
          <p:nvPr/>
        </p:nvSpPr>
        <p:spPr>
          <a:xfrm>
            <a:off x="1620949" y="6638251"/>
            <a:ext cx="9080493" cy="909750"/>
          </a:xfrm>
          <a:prstGeom prst="rect">
            <a:avLst/>
          </a:prstGeom>
          <a:solidFill>
            <a:schemeClr val="bg1"/>
          </a:solidFill>
          <a:ln>
            <a:solidFill>
              <a:srgbClr val="2B82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Text Prompt: Segment person, mug, book</a:t>
            </a:r>
            <a:endParaRPr lang="en-IN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6514E00-E772-29E4-5FF7-902C66152982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6161196" y="7548001"/>
            <a:ext cx="0" cy="909750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CEABAF5-E5BE-8649-0FC6-3FE692180F5A}"/>
              </a:ext>
            </a:extLst>
          </p:cNvPr>
          <p:cNvSpPr/>
          <p:nvPr/>
        </p:nvSpPr>
        <p:spPr>
          <a:xfrm>
            <a:off x="3315409" y="8565351"/>
            <a:ext cx="5330689" cy="127748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046741C-B2D5-72C5-AE37-BB9D61AE3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2145" y="1372308"/>
            <a:ext cx="9445501" cy="5243641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BF89D32-28E2-775C-9F15-2CAF7666C4E3}"/>
              </a:ext>
            </a:extLst>
          </p:cNvPr>
          <p:cNvCxnSpPr/>
          <p:nvPr/>
        </p:nvCxnSpPr>
        <p:spPr>
          <a:xfrm flipH="1">
            <a:off x="6161195" y="9898232"/>
            <a:ext cx="2" cy="808483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C1CBAD8-3552-5842-3FF0-0D0EB3529B38}"/>
              </a:ext>
            </a:extLst>
          </p:cNvPr>
          <p:cNvSpPr/>
          <p:nvPr/>
        </p:nvSpPr>
        <p:spPr>
          <a:xfrm>
            <a:off x="1024357" y="10757348"/>
            <a:ext cx="10797538" cy="660898"/>
          </a:xfrm>
          <a:prstGeom prst="roundRect">
            <a:avLst/>
          </a:prstGeom>
          <a:solidFill>
            <a:srgbClr val="0AD23A"/>
          </a:solidFill>
          <a:ln>
            <a:solidFill>
              <a:srgbClr val="0AD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>
                <a:solidFill>
                  <a:schemeClr val="bg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&lt;loc100&gt;&lt;loc200&gt;&lt;loc300&gt;&lt;loc400&gt;&lt;seg058&gt;&lt;seg071&gt; … person</a:t>
            </a:r>
            <a:endParaRPr lang="en-IN" sz="2700" dirty="0">
              <a:solidFill>
                <a:schemeClr val="bg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C5351C2-A881-396A-5ED9-A3731052D0BA}"/>
              </a:ext>
            </a:extLst>
          </p:cNvPr>
          <p:cNvSpPr/>
          <p:nvPr/>
        </p:nvSpPr>
        <p:spPr>
          <a:xfrm>
            <a:off x="1024357" y="11573873"/>
            <a:ext cx="10797538" cy="660898"/>
          </a:xfrm>
          <a:prstGeom prst="roundRect">
            <a:avLst/>
          </a:prstGeom>
          <a:solidFill>
            <a:srgbClr val="2B82FB"/>
          </a:solidFill>
          <a:ln>
            <a:solidFill>
              <a:srgbClr val="2B82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>
                <a:solidFill>
                  <a:schemeClr val="bg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&lt;loc50&gt;&lt;loc80&gt;&lt;loc120&gt;&lt;loc400&gt;&lt;seg064&gt;&lt;seg082&gt; … book</a:t>
            </a:r>
            <a:endParaRPr lang="en-IN" sz="2700" dirty="0">
              <a:solidFill>
                <a:schemeClr val="bg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8971C62C-F306-0514-522D-28069A04CE22}"/>
              </a:ext>
            </a:extLst>
          </p:cNvPr>
          <p:cNvCxnSpPr>
            <a:cxnSpLocks/>
          </p:cNvCxnSpPr>
          <p:nvPr/>
        </p:nvCxnSpPr>
        <p:spPr>
          <a:xfrm flipV="1">
            <a:off x="12222145" y="9411629"/>
            <a:ext cx="5374479" cy="2606723"/>
          </a:xfrm>
          <a:prstGeom prst="curvedConnector3">
            <a:avLst>
              <a:gd name="adj1" fmla="val 50000"/>
            </a:avLst>
          </a:prstGeom>
          <a:ln w="3810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6DAC346-12BB-E6B3-D596-88D3B61B66CF}"/>
              </a:ext>
            </a:extLst>
          </p:cNvPr>
          <p:cNvSpPr txBox="1"/>
          <p:nvPr/>
        </p:nvSpPr>
        <p:spPr>
          <a:xfrm>
            <a:off x="12852039" y="10691638"/>
            <a:ext cx="8182884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Parse the output from PaliGemma 2 model and draw segmentation mask on the input image.</a:t>
            </a:r>
            <a:endParaRPr lang="en-IN" sz="28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50BF26-4D5A-98DF-7E3C-06C6FC439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7295" y="6967811"/>
            <a:ext cx="6096000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8E9EC89B-AE32-2810-D6DF-F1230EA3787C}"/>
              </a:ext>
            </a:extLst>
          </p:cNvPr>
          <p:cNvCxnSpPr>
            <a:cxnSpLocks/>
          </p:cNvCxnSpPr>
          <p:nvPr/>
        </p:nvCxnSpPr>
        <p:spPr>
          <a:xfrm rot="16200000" flipV="1">
            <a:off x="16996243" y="7015574"/>
            <a:ext cx="1714372" cy="1125377"/>
          </a:xfrm>
          <a:prstGeom prst="curvedConnector3">
            <a:avLst/>
          </a:prstGeom>
          <a:ln w="3810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A96D8A5-E349-1DBC-FEC8-98AD66DA18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4792" y="8732226"/>
            <a:ext cx="5007218" cy="8821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DE0FD3-4ADE-6FE2-0945-39EC5A9ECD56}"/>
              </a:ext>
            </a:extLst>
          </p:cNvPr>
          <p:cNvSpPr/>
          <p:nvPr/>
        </p:nvSpPr>
        <p:spPr>
          <a:xfrm>
            <a:off x="520390" y="12557425"/>
            <a:ext cx="3860224" cy="10097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095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>
          <a:extLst>
            <a:ext uri="{FF2B5EF4-FFF2-40B4-BE49-F238E27FC236}">
              <a16:creationId xmlns:a16="http://schemas.microsoft.com/office/drawing/2014/main" id="{45D7110A-BA4E-533E-AB62-E83A7908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>
            <a:extLst>
              <a:ext uri="{FF2B5EF4-FFF2-40B4-BE49-F238E27FC236}">
                <a16:creationId xmlns:a16="http://schemas.microsoft.com/office/drawing/2014/main" id="{0619AFBA-8DC1-D755-98F2-DAE41F76F8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11723" y="6858000"/>
            <a:ext cx="12287100" cy="11201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2B82FB"/>
                </a:solidFill>
              </a:rPr>
              <a:t>Gemma 4</a:t>
            </a:r>
            <a:endParaRPr sz="7200" dirty="0">
              <a:solidFill>
                <a:srgbClr val="2B82FB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0675AF-E825-C9E5-221C-FE85E4ABD2E8}"/>
              </a:ext>
            </a:extLst>
          </p:cNvPr>
          <p:cNvSpPr/>
          <p:nvPr/>
        </p:nvSpPr>
        <p:spPr>
          <a:xfrm>
            <a:off x="551499" y="510361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224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9B4A956F-D1DB-CAFF-7CAE-F2FD70915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>
            <a:extLst>
              <a:ext uri="{FF2B5EF4-FFF2-40B4-BE49-F238E27FC236}">
                <a16:creationId xmlns:a16="http://schemas.microsoft.com/office/drawing/2014/main" id="{35C0EE80-A73A-8827-6C3C-941D32604A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495" y="283887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Gemma 4</a:t>
            </a:r>
            <a:endParaRPr sz="5400" dirty="0"/>
          </a:p>
        </p:txBody>
      </p:sp>
      <p:sp>
        <p:nvSpPr>
          <p:cNvPr id="162" name="Google Shape;162;p23">
            <a:extLst>
              <a:ext uri="{FF2B5EF4-FFF2-40B4-BE49-F238E27FC236}">
                <a16:creationId xmlns:a16="http://schemas.microsoft.com/office/drawing/2014/main" id="{E0C837F8-8203-5637-3730-C09A3A9258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0495" y="1852941"/>
            <a:ext cx="22286746" cy="100101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indent="-571500" algn="just">
              <a:buSzPct val="75000"/>
            </a:pPr>
            <a:r>
              <a:rPr lang="en-US" sz="3600" b="1" dirty="0">
                <a:solidFill>
                  <a:srgbClr val="2B82FB"/>
                </a:solidFill>
              </a:rPr>
              <a:t>Gemma 4</a:t>
            </a:r>
            <a:r>
              <a:rPr lang="en-US" sz="3600" dirty="0">
                <a:solidFill>
                  <a:srgbClr val="2B82FB"/>
                </a:solidFill>
              </a:rPr>
              <a:t> </a:t>
            </a:r>
            <a:r>
              <a:rPr lang="en-US" sz="3600" dirty="0"/>
              <a:t>is the latest open, multimodal model designed for on-device AI use cases including thinking, coding, multilingualism, agentic workflows, image understanding, and a lot more. </a:t>
            </a:r>
          </a:p>
          <a:p>
            <a:pPr marL="0" indent="0" algn="just">
              <a:buSzPct val="75000"/>
              <a:buNone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r>
              <a:rPr lang="en-US" sz="3600" dirty="0"/>
              <a:t>Available in </a:t>
            </a:r>
            <a:r>
              <a:rPr lang="en-US" sz="3600" b="1" dirty="0">
                <a:solidFill>
                  <a:srgbClr val="2B82FB"/>
                </a:solidFill>
              </a:rPr>
              <a:t>E2B</a:t>
            </a:r>
            <a:r>
              <a:rPr lang="en-US" sz="3600" b="1" dirty="0"/>
              <a:t> and </a:t>
            </a:r>
            <a:r>
              <a:rPr lang="en-US" sz="3600" b="1" dirty="0">
                <a:solidFill>
                  <a:srgbClr val="2B82FB"/>
                </a:solidFill>
              </a:rPr>
              <a:t>E4B</a:t>
            </a:r>
            <a:r>
              <a:rPr lang="en-US" sz="3600" dirty="0"/>
              <a:t>, corresponding to approximately 5B and 8B raw parameters</a:t>
            </a:r>
            <a:r>
              <a:rPr lang="en-US" sz="3600" b="1" dirty="0"/>
              <a:t>, </a:t>
            </a:r>
            <a:r>
              <a:rPr lang="en-US" sz="3600" b="1" dirty="0">
                <a:solidFill>
                  <a:srgbClr val="2B82FB"/>
                </a:solidFill>
              </a:rPr>
              <a:t>31B Dense</a:t>
            </a:r>
            <a:r>
              <a:rPr lang="en-US" sz="3600" b="1" dirty="0"/>
              <a:t>, </a:t>
            </a:r>
            <a:r>
              <a:rPr lang="en-US" sz="3600" dirty="0"/>
              <a:t>and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2B82FB"/>
                </a:solidFill>
              </a:rPr>
              <a:t>26B A4B </a:t>
            </a:r>
            <a:r>
              <a:rPr lang="en-US" sz="3600" b="1" dirty="0" err="1">
                <a:solidFill>
                  <a:srgbClr val="2B82FB"/>
                </a:solidFill>
              </a:rPr>
              <a:t>MoE</a:t>
            </a:r>
            <a:endParaRPr lang="en-US" sz="3600" dirty="0">
              <a:solidFill>
                <a:srgbClr val="2B82FB"/>
              </a:solidFill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r>
              <a:rPr lang="en-US" sz="3600" dirty="0"/>
              <a:t>Supports multiple input modalities including text, images, audio (max 30 secs), and video (max 60 secs).</a:t>
            </a: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r>
              <a:rPr lang="en-US" sz="3600" dirty="0"/>
              <a:t>Does NOT use </a:t>
            </a:r>
            <a:r>
              <a:rPr lang="en-US" sz="3600" b="1" dirty="0" err="1">
                <a:solidFill>
                  <a:srgbClr val="2B82FB"/>
                </a:solidFill>
              </a:rPr>
              <a:t>MatFormer</a:t>
            </a:r>
            <a:r>
              <a:rPr lang="en-US" sz="3600" b="1" dirty="0">
                <a:solidFill>
                  <a:srgbClr val="2B82FB"/>
                </a:solidFill>
              </a:rPr>
              <a:t> (Matryoshka Transformer)</a:t>
            </a:r>
            <a:r>
              <a:rPr lang="en-US" sz="3600" dirty="0">
                <a:solidFill>
                  <a:srgbClr val="2B82FB"/>
                </a:solidFill>
              </a:rPr>
              <a:t> </a:t>
            </a:r>
            <a:r>
              <a:rPr lang="en-US" sz="3600" dirty="0"/>
              <a:t>architecture anymore. E2B and E4B are separately trained models.</a:t>
            </a: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r>
              <a:rPr lang="en-US" sz="3600" dirty="0"/>
              <a:t>Includes </a:t>
            </a:r>
            <a:r>
              <a:rPr lang="en-US" sz="3600" b="1" dirty="0">
                <a:solidFill>
                  <a:srgbClr val="2B82FB"/>
                </a:solidFill>
              </a:rPr>
              <a:t>PLE caching (Per-Layer Embedding caching)</a:t>
            </a:r>
            <a:r>
              <a:rPr lang="en-US" sz="3600" dirty="0"/>
              <a:t>, which allows embeddings to be stored in fast local memory to reduce runtime memory and compute overhead.</a:t>
            </a: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7FA261-6BFB-A3BD-2E09-8B8ECF1EA824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841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A4ECBE83-C7A8-A9F3-2FB7-F31B81FC8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>
            <a:extLst>
              <a:ext uri="{FF2B5EF4-FFF2-40B4-BE49-F238E27FC236}">
                <a16:creationId xmlns:a16="http://schemas.microsoft.com/office/drawing/2014/main" id="{C316CDBB-4E83-AA67-CF1B-6D9613B984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495" y="283887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Matryoshka Transformer (MatFormer)</a:t>
            </a:r>
            <a:endParaRPr sz="5400" dirty="0"/>
          </a:p>
        </p:txBody>
      </p:sp>
      <p:sp>
        <p:nvSpPr>
          <p:cNvPr id="162" name="Google Shape;162;p23">
            <a:extLst>
              <a:ext uri="{FF2B5EF4-FFF2-40B4-BE49-F238E27FC236}">
                <a16:creationId xmlns:a16="http://schemas.microsoft.com/office/drawing/2014/main" id="{9C36A742-B223-70EF-4BCC-395CF19CC8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0495" y="1573944"/>
            <a:ext cx="22603010" cy="100101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indent="-571500" algn="just">
              <a:buSzPct val="75000"/>
            </a:pPr>
            <a:r>
              <a:rPr lang="en-US" sz="36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 nested transformer architecture inspired by Matryoshka dolls</a:t>
            </a: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/>
          </a:p>
          <a:p>
            <a:pPr marL="571500" indent="-571500" algn="just">
              <a:buSzPct val="75000"/>
            </a:pPr>
            <a:r>
              <a:rPr lang="en-US" sz="3600" dirty="0"/>
              <a:t>Organizes model parameters into multiple embedded sub-models of increasing size</a:t>
            </a:r>
          </a:p>
          <a:p>
            <a:pPr marL="571500" indent="-571500" algn="just">
              <a:buSzPct val="75000"/>
            </a:pPr>
            <a:r>
              <a:rPr lang="en-US" sz="3600" dirty="0"/>
              <a:t>Activates only the required subset of parameters per request</a:t>
            </a: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r>
              <a:rPr lang="en-US" sz="3600" dirty="0"/>
              <a:t>Enables dynamic scaling of compute based on task complexity</a:t>
            </a: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r>
              <a:rPr lang="en-US" sz="3600" dirty="0"/>
              <a:t>Allows smaller “inner” models to run independently when resources are limited</a:t>
            </a: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E66224-DB6C-9468-82B1-39D4BD41E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150" y="3073800"/>
            <a:ext cx="9132745" cy="51371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87220D-A141-2254-F603-4FAB36D18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2107" y="2662523"/>
            <a:ext cx="9940212" cy="55484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367FE2-63A9-9841-93FE-151F5BA4A82F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797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7BE41980-6400-A5FD-6C5F-52FB8EA26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No alternative text description for this image">
            <a:extLst>
              <a:ext uri="{FF2B5EF4-FFF2-40B4-BE49-F238E27FC236}">
                <a16:creationId xmlns:a16="http://schemas.microsoft.com/office/drawing/2014/main" id="{271E79A2-7C5A-5BBD-1F9A-8050B807C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1540" y="546543"/>
            <a:ext cx="5471043" cy="1139564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7D09D0-08F3-A615-5041-D34959FBE3DE}"/>
              </a:ext>
            </a:extLst>
          </p:cNvPr>
          <p:cNvSpPr/>
          <p:nvPr/>
        </p:nvSpPr>
        <p:spPr>
          <a:xfrm>
            <a:off x="991314" y="733156"/>
            <a:ext cx="3468719" cy="853049"/>
          </a:xfrm>
          <a:prstGeom prst="roundRect">
            <a:avLst/>
          </a:prstGeom>
          <a:solidFill>
            <a:srgbClr val="FCD5AA"/>
          </a:solidFill>
          <a:ln>
            <a:solidFill>
              <a:srgbClr val="FB97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rgbClr val="FB9729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Mobile Vision LM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D1433E-891A-D132-3F4B-CEBA93833611}"/>
              </a:ext>
            </a:extLst>
          </p:cNvPr>
          <p:cNvSpPr txBox="1"/>
          <p:nvPr/>
        </p:nvSpPr>
        <p:spPr>
          <a:xfrm>
            <a:off x="991314" y="1815228"/>
            <a:ext cx="105995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Custom vision language model that uses </a:t>
            </a:r>
            <a:r>
              <a:rPr lang="en-IN" sz="30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SigLIP</a:t>
            </a:r>
            <a:r>
              <a:rPr lang="en-IN" sz="30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as the vision encoder and </a:t>
            </a:r>
            <a:r>
              <a:rPr lang="en-IN" sz="30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Phi-2</a:t>
            </a:r>
            <a:r>
              <a:rPr lang="en-IN" sz="30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as the language decoder.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4A130E-D9B0-DD00-8C42-F6C3E21BC903}"/>
              </a:ext>
            </a:extLst>
          </p:cNvPr>
          <p:cNvSpPr/>
          <p:nvPr/>
        </p:nvSpPr>
        <p:spPr>
          <a:xfrm>
            <a:off x="991315" y="3596481"/>
            <a:ext cx="2386367" cy="853049"/>
          </a:xfrm>
          <a:prstGeom prst="roundRect">
            <a:avLst/>
          </a:prstGeom>
          <a:solidFill>
            <a:srgbClr val="DDF0C8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dirty="0">
                <a:solidFill>
                  <a:srgbClr val="00B05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Repository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F7F28-1938-BCA3-858D-9079BB0B382A}"/>
              </a:ext>
            </a:extLst>
          </p:cNvPr>
          <p:cNvSpPr txBox="1"/>
          <p:nvPr/>
        </p:nvSpPr>
        <p:spPr>
          <a:xfrm>
            <a:off x="991314" y="4568790"/>
            <a:ext cx="105995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https://github.com/NSTiwari/Mobile-VisionLM</a:t>
            </a:r>
            <a:endParaRPr lang="en-IN" sz="30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FBD363-98EB-1A00-A7B4-B44D9EB16ADC}"/>
              </a:ext>
            </a:extLst>
          </p:cNvPr>
          <p:cNvSpPr/>
          <p:nvPr/>
        </p:nvSpPr>
        <p:spPr>
          <a:xfrm>
            <a:off x="991315" y="5817841"/>
            <a:ext cx="3338089" cy="853049"/>
          </a:xfrm>
          <a:prstGeom prst="roundRect">
            <a:avLst/>
          </a:prstGeom>
          <a:solidFill>
            <a:srgbClr val="D1B2E8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dirty="0">
                <a:solidFill>
                  <a:srgbClr val="7030A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Implementation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66E83C-41F7-75A7-33BE-8FBC30B27AE4}"/>
              </a:ext>
            </a:extLst>
          </p:cNvPr>
          <p:cNvSpPr txBox="1"/>
          <p:nvPr/>
        </p:nvSpPr>
        <p:spPr>
          <a:xfrm>
            <a:off x="991313" y="6858000"/>
            <a:ext cx="1516930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Converted Imp v1 3B model weights using MLC (Machine Learning Compilation) framework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Quantize the model weights to q4f16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Bundle the model weights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Deploy on Android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46E968-6496-25C8-A0CF-1A3D05E6D880}"/>
              </a:ext>
            </a:extLst>
          </p:cNvPr>
          <p:cNvSpPr txBox="1"/>
          <p:nvPr/>
        </p:nvSpPr>
        <p:spPr>
          <a:xfrm>
            <a:off x="3250808" y="11544522"/>
            <a:ext cx="13387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**Custom on-device Vision Language Model on Android**</a:t>
            </a:r>
            <a:endParaRPr lang="en-IN" sz="30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E7C2D9-203A-BBDE-7F89-CEC7ED0F595D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718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47203A89-6B2A-17C8-8182-791B859FD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>
            <a:extLst>
              <a:ext uri="{FF2B5EF4-FFF2-40B4-BE49-F238E27FC236}">
                <a16:creationId xmlns:a16="http://schemas.microsoft.com/office/drawing/2014/main" id="{2D9ED7E5-CE54-7307-7853-C4B315C54F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495" y="283887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Bonus: Learn how to quantize and convert </a:t>
            </a:r>
            <a:r>
              <a:rPr lang="en-US" sz="5400" dirty="0" err="1"/>
              <a:t>PaliGemma</a:t>
            </a:r>
            <a:r>
              <a:rPr lang="en-US" sz="5400" dirty="0"/>
              <a:t> 2 to ONNX</a:t>
            </a:r>
            <a:endParaRPr sz="5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46F0A9D-ECE3-0F0B-F219-6262E833D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077" y="1350606"/>
            <a:ext cx="18656113" cy="1049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5C676E-11DB-C295-C246-73517F5F6434}"/>
              </a:ext>
            </a:extLst>
          </p:cNvPr>
          <p:cNvSpPr txBox="1"/>
          <p:nvPr/>
        </p:nvSpPr>
        <p:spPr>
          <a:xfrm>
            <a:off x="5791200" y="11552282"/>
            <a:ext cx="1280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github.com/NSTiwari/PaliGemma2-ONNX-Transformers.js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D3BD45-47A2-B3C1-2D0A-3196664455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806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>
          <a:extLst>
            <a:ext uri="{FF2B5EF4-FFF2-40B4-BE49-F238E27FC236}">
              <a16:creationId xmlns:a16="http://schemas.microsoft.com/office/drawing/2014/main" id="{2EFDEB13-4056-B0C4-40B1-D874CBED3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>
            <a:extLst>
              <a:ext uri="{FF2B5EF4-FFF2-40B4-BE49-F238E27FC236}">
                <a16:creationId xmlns:a16="http://schemas.microsoft.com/office/drawing/2014/main" id="{545B4A7A-5FE2-C0BF-93B2-11D9A32E0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97764" y="6420270"/>
            <a:ext cx="14555755" cy="34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2B82FB"/>
                </a:solidFill>
              </a:rPr>
              <a:t>Hands-on: </a:t>
            </a:r>
            <a:br>
              <a:rPr lang="en-US" sz="6000" dirty="0">
                <a:solidFill>
                  <a:srgbClr val="2B82FB"/>
                </a:solidFill>
              </a:rPr>
            </a:br>
            <a:r>
              <a:rPr lang="en-US" sz="6000" dirty="0">
                <a:solidFill>
                  <a:srgbClr val="2B82FB"/>
                </a:solidFill>
              </a:rPr>
              <a:t>Inference Gemma 4 on the browser</a:t>
            </a:r>
            <a:endParaRPr sz="60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E65F08-3884-7A50-259F-68CD9759C4F4}"/>
              </a:ext>
            </a:extLst>
          </p:cNvPr>
          <p:cNvSpPr/>
          <p:nvPr/>
        </p:nvSpPr>
        <p:spPr>
          <a:xfrm>
            <a:off x="690510" y="404035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395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FD256E46-57A6-F37B-FD76-8AFDB5158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>
            <a:extLst>
              <a:ext uri="{FF2B5EF4-FFF2-40B4-BE49-F238E27FC236}">
                <a16:creationId xmlns:a16="http://schemas.microsoft.com/office/drawing/2014/main" id="{A3130E6B-FAC9-FC22-1831-AFF0A434F4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492" y="488038"/>
            <a:ext cx="21862800" cy="10095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rgbClr val="2B82FB"/>
                </a:solidFill>
              </a:rPr>
              <a:t>Steps to get started:</a:t>
            </a:r>
            <a:endParaRPr sz="5400" dirty="0">
              <a:solidFill>
                <a:srgbClr val="2B82FB"/>
              </a:solidFill>
            </a:endParaRPr>
          </a:p>
        </p:txBody>
      </p:sp>
      <p:sp>
        <p:nvSpPr>
          <p:cNvPr id="162" name="Google Shape;162;p23">
            <a:extLst>
              <a:ext uri="{FF2B5EF4-FFF2-40B4-BE49-F238E27FC236}">
                <a16:creationId xmlns:a16="http://schemas.microsoft.com/office/drawing/2014/main" id="{6A162583-B3C2-395A-E1DA-8CD01B9987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0498" y="1935216"/>
            <a:ext cx="22603010" cy="106555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ct val="80000"/>
              <a:buNone/>
            </a:pPr>
            <a:r>
              <a:rPr lang="en-US" sz="3200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Step 1: </a:t>
            </a:r>
            <a:r>
              <a:rPr lang="en-US" sz="3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Clone or download the below repository</a:t>
            </a:r>
          </a:p>
          <a:p>
            <a:pPr marL="0" indent="0">
              <a:buSzPct val="80000"/>
              <a:buNone/>
            </a:pPr>
            <a:r>
              <a:rPr lang="en-US" sz="32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https://github.com/NSTiwari/Gemma-4-on-Browser</a:t>
            </a: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r>
              <a:rPr lang="en-US" sz="3200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Step 2: </a:t>
            </a:r>
            <a:r>
              <a:rPr lang="en-US" sz="3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Navigate to the directory</a:t>
            </a:r>
          </a:p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r>
              <a:rPr lang="en-US" sz="3200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Step 3: Install necessary libraries and dependencies</a:t>
            </a:r>
          </a:p>
          <a:p>
            <a:pPr marL="0" indent="0">
              <a:buSzPct val="80000"/>
              <a:buNone/>
            </a:pPr>
            <a:endParaRPr lang="en-US" sz="3200" b="1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b="1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r>
              <a:rPr lang="en-US" sz="3200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Step 4: Start the Node.js server</a:t>
            </a: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b="1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r>
              <a:rPr lang="en-US" sz="3200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Step 5: Start inferencing on your browser, all on-device</a:t>
            </a:r>
          </a:p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F93C03A-4865-A50D-1875-D375EF8FD0DE}"/>
              </a:ext>
            </a:extLst>
          </p:cNvPr>
          <p:cNvSpPr/>
          <p:nvPr/>
        </p:nvSpPr>
        <p:spPr>
          <a:xfrm>
            <a:off x="890492" y="4459949"/>
            <a:ext cx="6743685" cy="8770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ea typeface="Google Sans" panose="020B0604020202020204" charset="0"/>
                <a:cs typeface="Courier New" panose="02070309020205020404" pitchFamily="49" charset="0"/>
              </a:rPr>
              <a:t>cd “Gemma-4-on-Browser”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2CB7A1F-083A-7F6B-57E6-980FF89243F8}"/>
              </a:ext>
            </a:extLst>
          </p:cNvPr>
          <p:cNvSpPr/>
          <p:nvPr/>
        </p:nvSpPr>
        <p:spPr>
          <a:xfrm>
            <a:off x="890492" y="6385918"/>
            <a:ext cx="3625524" cy="8770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ea typeface="Google Sans" panose="020B0604020202020204" charset="0"/>
                <a:cs typeface="Courier New" panose="02070309020205020404" pitchFamily="49" charset="0"/>
              </a:rPr>
              <a:t>npm install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E6BE71-406A-6E37-A26D-247DF02746CC}"/>
              </a:ext>
            </a:extLst>
          </p:cNvPr>
          <p:cNvSpPr/>
          <p:nvPr/>
        </p:nvSpPr>
        <p:spPr>
          <a:xfrm>
            <a:off x="890492" y="8308500"/>
            <a:ext cx="4574643" cy="8770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ea typeface="Google Sans" panose="020B0604020202020204" charset="0"/>
                <a:cs typeface="Courier New" panose="02070309020205020404" pitchFamily="49" charset="0"/>
              </a:rPr>
              <a:t>node </a:t>
            </a:r>
            <a:r>
              <a:rPr lang="en-US" sz="3600" dirty="0" err="1">
                <a:solidFill>
                  <a:schemeClr val="tx1"/>
                </a:solidFill>
                <a:latin typeface="Courier New" panose="02070309020205020404" pitchFamily="49" charset="0"/>
                <a:ea typeface="Google Sans" panose="020B0604020202020204" charset="0"/>
                <a:cs typeface="Courier New" panose="02070309020205020404" pitchFamily="49" charset="0"/>
              </a:rPr>
              <a:t>server.mjs</a:t>
            </a:r>
            <a:endParaRPr lang="en-US" sz="3600" dirty="0">
              <a:solidFill>
                <a:schemeClr val="tx1"/>
              </a:solidFill>
              <a:latin typeface="Courier New" panose="02070309020205020404" pitchFamily="49" charset="0"/>
              <a:ea typeface="Google Sans" panose="020B0604020202020204" charset="0"/>
              <a:cs typeface="Courier New" panose="020703090202050204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550A73-DC65-A56B-B875-3572C0E79213}"/>
              </a:ext>
            </a:extLst>
          </p:cNvPr>
          <p:cNvSpPr/>
          <p:nvPr/>
        </p:nvSpPr>
        <p:spPr>
          <a:xfrm>
            <a:off x="890492" y="10128000"/>
            <a:ext cx="6555337" cy="8770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ea typeface="Google Sans" panose="020B0604020202020204" charset="0"/>
                <a:cs typeface="Courier New" panose="02070309020205020404" pitchFamily="49" charset="0"/>
              </a:rPr>
              <a:t>https://localhost:3000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F8356D-0E34-590A-BBF0-AB551E0D6E94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865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DC25DA02-56A7-16A0-53E6-A6525BAF2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>
            <a:extLst>
              <a:ext uri="{FF2B5EF4-FFF2-40B4-BE49-F238E27FC236}">
                <a16:creationId xmlns:a16="http://schemas.microsoft.com/office/drawing/2014/main" id="{0267961E-E1B9-67C7-86AA-DDCE6656E1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492" y="488038"/>
            <a:ext cx="21862800" cy="10095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rgbClr val="2B82FB"/>
                </a:solidFill>
              </a:rPr>
              <a:t>WebGemma</a:t>
            </a:r>
            <a:endParaRPr sz="5400" dirty="0">
              <a:solidFill>
                <a:srgbClr val="2B82FB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CB080A-8BD3-61A5-34ED-5ED01C3B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2688" y="1088638"/>
            <a:ext cx="8825023" cy="11378082"/>
          </a:xfrm>
          <a:prstGeom prst="rect">
            <a:avLst/>
          </a:prstGeom>
        </p:spPr>
      </p:pic>
      <p:sp>
        <p:nvSpPr>
          <p:cNvPr id="10" name="Google Shape;162;p23">
            <a:extLst>
              <a:ext uri="{FF2B5EF4-FFF2-40B4-BE49-F238E27FC236}">
                <a16:creationId xmlns:a16="http://schemas.microsoft.com/office/drawing/2014/main" id="{51EC60F9-F16A-E3C4-FC19-C0E355B0FB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0492" y="2019510"/>
            <a:ext cx="11974897" cy="106555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>
              <a:buSzPct val="80000"/>
            </a:pPr>
            <a:r>
              <a:rPr lang="en-US" sz="36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WebGemma</a:t>
            </a:r>
            <a:r>
              <a:rPr lang="en-US" sz="36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is a browser-based playground that lets you try 10+ Gemma models (including Gemini Nano) directly on the browser without any installation.</a:t>
            </a:r>
          </a:p>
          <a:p>
            <a:pPr indent="-457200">
              <a:buSzPct val="80000"/>
            </a:pPr>
            <a:endParaRPr lang="en-US" sz="36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80000"/>
            </a:pPr>
            <a:r>
              <a:rPr lang="en-US" sz="36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It uses </a:t>
            </a:r>
            <a:r>
              <a:rPr lang="en-US" sz="36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WebGPU</a:t>
            </a:r>
            <a:r>
              <a:rPr lang="en-US" sz="36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and </a:t>
            </a:r>
            <a:r>
              <a:rPr lang="en-US" sz="36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Transformers.js</a:t>
            </a:r>
            <a:r>
              <a:rPr lang="en-US" sz="36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to run these models offline and on the browser.</a:t>
            </a:r>
          </a:p>
          <a:p>
            <a:pPr indent="-457200">
              <a:buSzPct val="80000"/>
            </a:pPr>
            <a:endParaRPr lang="en-US" sz="36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80000"/>
            </a:pPr>
            <a:r>
              <a:rPr lang="en-US" sz="36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Includes models like Gemma 4, Gemma 3n, </a:t>
            </a:r>
            <a:r>
              <a:rPr lang="en-US" sz="3600" dirty="0" err="1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PaliGemma</a:t>
            </a:r>
            <a:r>
              <a:rPr lang="en-US" sz="36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2 Mix, </a:t>
            </a:r>
            <a:r>
              <a:rPr lang="en-US" sz="3600" dirty="0" err="1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TranslateGemma</a:t>
            </a:r>
            <a:r>
              <a:rPr lang="en-US" sz="36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, </a:t>
            </a:r>
            <a:r>
              <a:rPr lang="en-US" sz="3600" dirty="0" err="1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EmbeddingGemma</a:t>
            </a:r>
            <a:r>
              <a:rPr lang="en-US" sz="36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, and Gemini Nano.</a:t>
            </a:r>
          </a:p>
          <a:p>
            <a:pPr indent="-457200">
              <a:buSzPct val="80000"/>
            </a:pPr>
            <a:endParaRPr lang="en-US" sz="36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80000"/>
            </a:pPr>
            <a:r>
              <a:rPr lang="en-US" sz="36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Try it now:</a:t>
            </a:r>
            <a:br>
              <a:rPr lang="en-US" sz="36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US" sz="36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https://github.com/NSTiwari/WebGemma</a:t>
            </a:r>
            <a:br>
              <a:rPr lang="en-US" sz="36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US" sz="36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https://web-gemma.vercel.app/</a:t>
            </a:r>
            <a:endParaRPr lang="en-US" sz="36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80000"/>
            </a:pPr>
            <a:endParaRPr lang="en-US" sz="36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CDACCA-A19D-CAA0-E02D-90B8F8B0A72C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910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D0255C2E-6291-F269-19C7-5E6EDACE0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>
            <a:extLst>
              <a:ext uri="{FF2B5EF4-FFF2-40B4-BE49-F238E27FC236}">
                <a16:creationId xmlns:a16="http://schemas.microsoft.com/office/drawing/2014/main" id="{94E13AA7-0B4D-10FF-890C-63543FD9FC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4293" y="529893"/>
            <a:ext cx="23224144" cy="106555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EA4335"/>
                </a:solidFill>
              </a:rPr>
              <a:t>Project 1: "Offline Inventory &amp; QA Tracker for Planogram Compliance" (Retail/Manufacturing)</a:t>
            </a:r>
          </a:p>
          <a:p>
            <a:pPr marL="0" indent="0">
              <a:buNone/>
            </a:pPr>
            <a:endParaRPr lang="en-US" b="1" dirty="0">
              <a:solidFill>
                <a:srgbClr val="EA4335"/>
              </a:solidFill>
            </a:endParaRPr>
          </a:p>
          <a:p>
            <a:pPr marL="0" indent="0">
              <a:buNone/>
            </a:pPr>
            <a:r>
              <a:rPr lang="en-US" b="1" dirty="0"/>
              <a:t>The Problem:</a:t>
            </a:r>
            <a:r>
              <a:rPr lang="en-US" dirty="0"/>
              <a:t> Warehouses and retail stores need to count stock or detect defects, but internet connectivity in warehouses is often terrible.</a:t>
            </a:r>
          </a:p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pic>
        <p:nvPicPr>
          <p:cNvPr id="2052" name="Picture 4" descr="Real-time retail planogram compliance application using computer vision and  virtual shelves | Scientific Reports">
            <a:extLst>
              <a:ext uri="{FF2B5EF4-FFF2-40B4-BE49-F238E27FC236}">
                <a16:creationId xmlns:a16="http://schemas.microsoft.com/office/drawing/2014/main" id="{85A02F0E-5DF5-5904-89E9-B89D09940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6864" y="4743523"/>
            <a:ext cx="17879002" cy="527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ECB8EA-561B-BDC9-A12D-1AE8C05B5023}"/>
              </a:ext>
            </a:extLst>
          </p:cNvPr>
          <p:cNvSpPr txBox="1"/>
          <p:nvPr/>
        </p:nvSpPr>
        <p:spPr>
          <a:xfrm>
            <a:off x="6570920" y="10590027"/>
            <a:ext cx="12631479" cy="786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"Detect bottles, boxes, and cans."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143812-7D69-4897-7217-F89329B1F8BB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489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14E05B45-AE16-5780-6D07-2A406A904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>
            <a:extLst>
              <a:ext uri="{FF2B5EF4-FFF2-40B4-BE49-F238E27FC236}">
                <a16:creationId xmlns:a16="http://schemas.microsoft.com/office/drawing/2014/main" id="{9A55770D-B357-9CAD-686C-DC2320006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0814" y="219723"/>
            <a:ext cx="23224144" cy="106555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Project 2: "Privacy-First Medical/Legal Analyzer" (Healthcare/Finance)</a:t>
            </a:r>
          </a:p>
          <a:p>
            <a:pPr marL="0" indent="0">
              <a:buNone/>
            </a:pPr>
            <a:endParaRPr lang="en-US" b="1" dirty="0">
              <a:solidFill>
                <a:srgbClr val="EA4335"/>
              </a:solidFill>
            </a:endParaRPr>
          </a:p>
          <a:p>
            <a:pPr marL="0" indent="0">
              <a:buNone/>
            </a:pPr>
            <a:r>
              <a:rPr lang="en-US" b="1" dirty="0"/>
              <a:t>The Problem:</a:t>
            </a:r>
            <a:r>
              <a:rPr lang="en-US" dirty="0"/>
              <a:t> Doctors and lawyers cannot upload patient records, receipts, or legal documents to cloud because it violates data privacy laws (HIPAA/GDPR).</a:t>
            </a: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pic>
        <p:nvPicPr>
          <p:cNvPr id="3076" name="Picture 4" descr="Deenanath Mangeshkar Hospital OP Bill | PDF | Payments | Health Care">
            <a:extLst>
              <a:ext uri="{FF2B5EF4-FFF2-40B4-BE49-F238E27FC236}">
                <a16:creationId xmlns:a16="http://schemas.microsoft.com/office/drawing/2014/main" id="{780A7355-C707-36E2-B498-2C688A73E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645" y="3630577"/>
            <a:ext cx="10588644" cy="7003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9D1D00-9187-574E-F44C-B6009251D838}"/>
              </a:ext>
            </a:extLst>
          </p:cNvPr>
          <p:cNvSpPr txBox="1"/>
          <p:nvPr/>
        </p:nvSpPr>
        <p:spPr>
          <a:xfrm>
            <a:off x="4127594" y="10875282"/>
            <a:ext cx="166505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Courier New" panose="02070309020205020404" pitchFamily="49" charset="0"/>
                <a:ea typeface="Google Sans" panose="020B0604020202020204" charset="0"/>
                <a:cs typeface="Courier New" panose="02070309020205020404" pitchFamily="49" charset="0"/>
              </a:rPr>
              <a:t>“Extract the patient name, date of birth, and prescribed medication in JSON format.”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41193D-7EB6-B5E9-E65C-1FF2C8C3DD46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206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69D08589-B740-F762-9737-107C6FA8E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>
            <a:extLst>
              <a:ext uri="{FF2B5EF4-FFF2-40B4-BE49-F238E27FC236}">
                <a16:creationId xmlns:a16="http://schemas.microsoft.com/office/drawing/2014/main" id="{A1DCABFF-AAEA-F912-DF2B-590F5C0A3D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0814" y="219723"/>
            <a:ext cx="23224144" cy="106555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B82FB"/>
                </a:solidFill>
              </a:rPr>
              <a:t>Project 3: “On-device phone call summarizer”</a:t>
            </a:r>
          </a:p>
          <a:p>
            <a:pPr marL="0" indent="0">
              <a:buNone/>
            </a:pPr>
            <a:endParaRPr lang="en-US" b="1" dirty="0">
              <a:solidFill>
                <a:srgbClr val="EA4335"/>
              </a:solidFill>
            </a:endParaRPr>
          </a:p>
          <a:p>
            <a:pPr marL="0" indent="0">
              <a:buNone/>
            </a:pPr>
            <a:r>
              <a:rPr lang="en-US" b="1" dirty="0"/>
              <a:t>The Problem:</a:t>
            </a:r>
            <a:r>
              <a:rPr lang="en-US" dirty="0"/>
              <a:t> Phone calls contain our most sensitive data like banking details, medical issues, corporate secrets, and personal gossip. People want AI to transcribe and summarize their calls, but uploading a personal phone call to a cloud server is a massive privacy violation and often breaches corporate security policies.</a:t>
            </a: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955362-005B-B95D-872F-ED8DDFAA98DB}"/>
              </a:ext>
            </a:extLst>
          </p:cNvPr>
          <p:cNvSpPr txBox="1"/>
          <p:nvPr/>
        </p:nvSpPr>
        <p:spPr>
          <a:xfrm>
            <a:off x="1313542" y="10088473"/>
            <a:ext cx="2175691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"Transcribe this phone call verbatim. Then, provide a bulleted summary, highlight the action items, and extract any dates, times, or phone numbers mentioned."</a:t>
            </a:r>
            <a:endParaRPr lang="en-US" sz="4400" dirty="0">
              <a:latin typeface="Courier New" panose="02070309020205020404" pitchFamily="49" charset="0"/>
              <a:ea typeface="Google Sans" panose="020B0604020202020204" charset="0"/>
              <a:cs typeface="Courier New" panose="02070309020205020404" pitchFamily="49" charset="0"/>
            </a:endParaRPr>
          </a:p>
        </p:txBody>
      </p:sp>
      <p:pic>
        <p:nvPicPr>
          <p:cNvPr id="4098" name="Picture 2" descr="To see an audio waveform for sounds - Feature Requests - ATOMI Community">
            <a:extLst>
              <a:ext uri="{FF2B5EF4-FFF2-40B4-BE49-F238E27FC236}">
                <a16:creationId xmlns:a16="http://schemas.microsoft.com/office/drawing/2014/main" id="{B63C202E-B0A4-0442-8606-E28709ECA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273" y="5316030"/>
            <a:ext cx="10435413" cy="4174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46F91A-5C96-FDD5-E9D3-4D472778A6C7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004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>
          <a:extLst>
            <a:ext uri="{FF2B5EF4-FFF2-40B4-BE49-F238E27FC236}">
              <a16:creationId xmlns:a16="http://schemas.microsoft.com/office/drawing/2014/main" id="{38A1C7EF-AA7E-62A4-6170-D033D4DE8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>
            <a:extLst>
              <a:ext uri="{FF2B5EF4-FFF2-40B4-BE49-F238E27FC236}">
                <a16:creationId xmlns:a16="http://schemas.microsoft.com/office/drawing/2014/main" id="{92A400E6-C3E8-63E5-9894-3F5A585F00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303" y="6054976"/>
            <a:ext cx="12287100" cy="34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B82FB"/>
                </a:solidFill>
              </a:rPr>
              <a:t>Serve Gemma 4 on TPU</a:t>
            </a:r>
            <a:endParaRPr dirty="0">
              <a:solidFill>
                <a:srgbClr val="2B82FB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D41228-FF57-6F05-BE6E-E4CE4AC9AE5A}"/>
              </a:ext>
            </a:extLst>
          </p:cNvPr>
          <p:cNvSpPr/>
          <p:nvPr/>
        </p:nvSpPr>
        <p:spPr>
          <a:xfrm>
            <a:off x="620079" y="446565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6017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636D45B6-467F-EEF8-7E95-F06AB2962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Google Shape;160;p23">
            <a:extLst>
              <a:ext uri="{FF2B5EF4-FFF2-40B4-BE49-F238E27FC236}">
                <a16:creationId xmlns:a16="http://schemas.microsoft.com/office/drawing/2014/main" id="{54D18CB4-BDC2-D800-9A22-A8E2C05C64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495" y="283887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Gemma 4 on TPU</a:t>
            </a:r>
            <a:endParaRPr sz="5400" dirty="0"/>
          </a:p>
        </p:txBody>
      </p:sp>
      <p:sp>
        <p:nvSpPr>
          <p:cNvPr id="162" name="Google Shape;162;p23">
            <a:extLst>
              <a:ext uri="{FF2B5EF4-FFF2-40B4-BE49-F238E27FC236}">
                <a16:creationId xmlns:a16="http://schemas.microsoft.com/office/drawing/2014/main" id="{4C02C23A-DFE1-FC40-A722-A726CD9F39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0495" y="1682820"/>
            <a:ext cx="22286746" cy="100101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indent="-571500" algn="just">
              <a:buSzPct val="75000"/>
            </a:pPr>
            <a:r>
              <a:rPr lang="en-US" sz="36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Gemma 4 can be served on Cloud TPUs for seconds to sub-second inferencing using vLLM.</a:t>
            </a: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r>
              <a:rPr lang="en-US" sz="36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This example shows how to serve </a:t>
            </a:r>
            <a:r>
              <a:rPr lang="en-US" sz="36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Gemma 4 26B-A4B-it</a:t>
            </a:r>
            <a:r>
              <a:rPr lang="en-US" sz="36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</a:t>
            </a:r>
            <a:r>
              <a:rPr lang="en-US" sz="3600" dirty="0" err="1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MoE</a:t>
            </a:r>
            <a:r>
              <a:rPr lang="en-US" sz="36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model on </a:t>
            </a:r>
            <a:r>
              <a:rPr lang="en-US" sz="36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TPU v6e (Trillium) </a:t>
            </a:r>
            <a:r>
              <a:rPr lang="en-US" sz="36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on Google Cloud using vLLM.</a:t>
            </a: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pic>
        <p:nvPicPr>
          <p:cNvPr id="1026" name="Picture 2" descr="TPU v6e | Google Cloud Documentation">
            <a:extLst>
              <a:ext uri="{FF2B5EF4-FFF2-40B4-BE49-F238E27FC236}">
                <a16:creationId xmlns:a16="http://schemas.microsoft.com/office/drawing/2014/main" id="{C8055CDE-4958-27B8-6FCE-2D075C9F8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79" y="5026949"/>
            <a:ext cx="10282016" cy="7618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tutorial on using Google Cloud TPUs | by Chae Young Lee | Good Audience">
            <a:extLst>
              <a:ext uri="{FF2B5EF4-FFF2-40B4-BE49-F238E27FC236}">
                <a16:creationId xmlns:a16="http://schemas.microsoft.com/office/drawing/2014/main" id="{211B41E6-6E93-1B29-A0FA-806357181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0" y="5647087"/>
            <a:ext cx="10113027" cy="6998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A738F7-23F7-55CB-ED9D-429F0E78F9B0}"/>
              </a:ext>
            </a:extLst>
          </p:cNvPr>
          <p:cNvSpPr/>
          <p:nvPr/>
        </p:nvSpPr>
        <p:spPr>
          <a:xfrm>
            <a:off x="520390" y="12645301"/>
            <a:ext cx="3668838" cy="921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2750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9DA8DDB3-ED83-2F43-6182-9413A793E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>
            <a:extLst>
              <a:ext uri="{FF2B5EF4-FFF2-40B4-BE49-F238E27FC236}">
                <a16:creationId xmlns:a16="http://schemas.microsoft.com/office/drawing/2014/main" id="{B154F7EF-E0CB-CB0D-DC8F-6A89F0FB6D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495" y="283887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Serve Gemma 4 on TPU</a:t>
            </a:r>
            <a:endParaRPr sz="5400" dirty="0"/>
          </a:p>
        </p:txBody>
      </p:sp>
      <p:sp>
        <p:nvSpPr>
          <p:cNvPr id="162" name="Google Shape;162;p23">
            <a:extLst>
              <a:ext uri="{FF2B5EF4-FFF2-40B4-BE49-F238E27FC236}">
                <a16:creationId xmlns:a16="http://schemas.microsoft.com/office/drawing/2014/main" id="{D475D31A-273B-E71A-C670-863A394C25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0495" y="1363843"/>
            <a:ext cx="22286746" cy="100101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02D305B-5BE4-159E-EC7A-779EE995CC8D}"/>
              </a:ext>
            </a:extLst>
          </p:cNvPr>
          <p:cNvSpPr/>
          <p:nvPr/>
        </p:nvSpPr>
        <p:spPr>
          <a:xfrm>
            <a:off x="1206759" y="1992496"/>
            <a:ext cx="10483702" cy="2381693"/>
          </a:xfrm>
          <a:prstGeom prst="roundRect">
            <a:avLst/>
          </a:prstGeom>
          <a:noFill/>
          <a:ln w="38100">
            <a:solidFill>
              <a:srgbClr val="EA43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 PROJECT=YOUR_GCP_PROJECT_NAME</a:t>
            </a:r>
            <a:br>
              <a:rPr lang="en-US" sz="36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 HF_TOKEN=YOUR_HF_TOKEN</a:t>
            </a:r>
            <a:br>
              <a:rPr lang="en-US" sz="36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 ZONE=us-east5-a</a:t>
            </a:r>
            <a:br>
              <a:rPr lang="en-US" sz="36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 TPU_NAME=gemma4-tpu-vllm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7BF4E-9E93-CD44-B6A8-356C20E0116F}"/>
              </a:ext>
            </a:extLst>
          </p:cNvPr>
          <p:cNvSpPr/>
          <p:nvPr/>
        </p:nvSpPr>
        <p:spPr>
          <a:xfrm>
            <a:off x="1206759" y="5019897"/>
            <a:ext cx="10483702" cy="6243172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gcloud</a:t>
            </a:r>
            <a: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alpha compute </a:t>
            </a:r>
            <a:r>
              <a:rPr lang="en-US" sz="3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tpus</a:t>
            </a:r>
            <a: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queued-resources create gemma4-tpu-vllm \</a:t>
            </a:r>
            <a:b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--zone=us-east5-a \</a:t>
            </a:r>
            <a:b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--accelerator-type=v6e-4 \</a:t>
            </a:r>
            <a:b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--runtime-version=v2-alpha-tpuv6e \</a:t>
            </a:r>
            <a:b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--node-id=gemma4-tpu-vllm \</a:t>
            </a:r>
            <a:b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--provisioning-model=flex-start \</a:t>
            </a:r>
            <a:b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--max-run-duration=4h \</a:t>
            </a:r>
            <a:b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--valid-until-duration=4h \</a:t>
            </a:r>
            <a:b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--labels=purpose=flex-start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A513DC3-6EC3-1F60-8EE3-51156ECFB92F}"/>
              </a:ext>
            </a:extLst>
          </p:cNvPr>
          <p:cNvCxnSpPr>
            <a:cxnSpLocks/>
          </p:cNvCxnSpPr>
          <p:nvPr/>
        </p:nvCxnSpPr>
        <p:spPr>
          <a:xfrm flipH="1">
            <a:off x="11862091" y="3137935"/>
            <a:ext cx="1765005" cy="0"/>
          </a:xfrm>
          <a:prstGeom prst="straightConnector1">
            <a:avLst/>
          </a:prstGeom>
          <a:ln w="38100">
            <a:solidFill>
              <a:srgbClr val="EA43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0AC21D9-1167-FAF8-81D3-DF2B29235E61}"/>
              </a:ext>
            </a:extLst>
          </p:cNvPr>
          <p:cNvCxnSpPr>
            <a:cxnSpLocks/>
          </p:cNvCxnSpPr>
          <p:nvPr/>
        </p:nvCxnSpPr>
        <p:spPr>
          <a:xfrm flipH="1">
            <a:off x="11862091" y="7989925"/>
            <a:ext cx="176500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0375567-BA4B-12F3-39AC-E2797DC33276}"/>
              </a:ext>
            </a:extLst>
          </p:cNvPr>
          <p:cNvSpPr txBox="1"/>
          <p:nvPr/>
        </p:nvSpPr>
        <p:spPr>
          <a:xfrm>
            <a:off x="14116192" y="2814769"/>
            <a:ext cx="640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EA4335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Configure env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129DD1-E617-1B6D-A914-158BAD787B28}"/>
              </a:ext>
            </a:extLst>
          </p:cNvPr>
          <p:cNvSpPr txBox="1"/>
          <p:nvPr/>
        </p:nvSpPr>
        <p:spPr>
          <a:xfrm>
            <a:off x="14116192" y="7666759"/>
            <a:ext cx="8144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Create a v6e TPU VM instance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ED3ABA-1460-8571-5AE1-B0360575A123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726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D92987AC-ECCF-7364-F5EF-80789E97F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2">
            <a:extLst>
              <a:ext uri="{FF2B5EF4-FFF2-40B4-BE49-F238E27FC236}">
                <a16:creationId xmlns:a16="http://schemas.microsoft.com/office/drawing/2014/main" id="{05E2FFAE-4A44-F386-0E02-35D706E6B8B9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Google Shape;162;p23">
            <a:extLst>
              <a:ext uri="{FF2B5EF4-FFF2-40B4-BE49-F238E27FC236}">
                <a16:creationId xmlns:a16="http://schemas.microsoft.com/office/drawing/2014/main" id="{C80D0F81-1673-0AA1-802F-BC1602A5D6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0495" y="1363843"/>
            <a:ext cx="22286746" cy="100101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 algn="just">
              <a:buSzPct val="75000"/>
            </a:pPr>
            <a:endParaRPr lang="en-US" sz="36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8685358-AA67-264F-B82C-1A6741D16D11}"/>
              </a:ext>
            </a:extLst>
          </p:cNvPr>
          <p:cNvSpPr/>
          <p:nvPr/>
        </p:nvSpPr>
        <p:spPr>
          <a:xfrm>
            <a:off x="680483" y="292510"/>
            <a:ext cx="13737265" cy="1819500"/>
          </a:xfrm>
          <a:prstGeom prst="roundRect">
            <a:avLst/>
          </a:prstGeom>
          <a:noFill/>
          <a:ln w="38100">
            <a:solidFill>
              <a:srgbClr val="2B82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 err="1">
                <a:solidFill>
                  <a:srgbClr val="2B82F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gcloud</a:t>
            </a:r>
            <a:r>
              <a:rPr lang="en-US" sz="3600" dirty="0">
                <a:solidFill>
                  <a:srgbClr val="2B82F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compute </a:t>
            </a:r>
            <a:r>
              <a:rPr lang="en-US" sz="3600" dirty="0" err="1">
                <a:solidFill>
                  <a:srgbClr val="2B82F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tpus</a:t>
            </a:r>
            <a:r>
              <a:rPr lang="en-US" sz="3600" dirty="0">
                <a:solidFill>
                  <a:srgbClr val="2B82F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600" dirty="0" err="1">
                <a:solidFill>
                  <a:srgbClr val="2B82F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tpu-vm</a:t>
            </a:r>
            <a:r>
              <a:rPr lang="en-US" sz="3600" dirty="0">
                <a:solidFill>
                  <a:srgbClr val="2B82F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ssh gemma4-tpu-vllm \</a:t>
            </a:r>
            <a:br>
              <a:rPr lang="en-US" sz="3600" dirty="0">
                <a:solidFill>
                  <a:srgbClr val="2B82F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solidFill>
                  <a:srgbClr val="2B82F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--zone=us-east5-a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FF62A96-9716-5E60-288D-B9146B331EB2}"/>
              </a:ext>
            </a:extLst>
          </p:cNvPr>
          <p:cNvSpPr/>
          <p:nvPr/>
        </p:nvSpPr>
        <p:spPr>
          <a:xfrm>
            <a:off x="680484" y="2596760"/>
            <a:ext cx="13737264" cy="9503092"/>
          </a:xfrm>
          <a:prstGeom prst="roundRect">
            <a:avLst/>
          </a:prstGeom>
          <a:noFill/>
          <a:ln>
            <a:solidFill>
              <a:srgbClr val="EA43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err="1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docker run -it --rm --name gemma4-vllm \</a:t>
            </a:r>
            <a:b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--privileged \</a:t>
            </a:r>
            <a:b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--network host \</a:t>
            </a:r>
            <a:b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sz="3200" dirty="0" err="1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-size 16g \</a:t>
            </a:r>
            <a:b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-v /dev/</a:t>
            </a:r>
            <a:r>
              <a:rPr lang="en-US" sz="3200" dirty="0" err="1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:/dev/</a:t>
            </a:r>
            <a:r>
              <a:rPr lang="en-US" sz="3200" dirty="0" err="1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  <a:b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-e HF_TOKEN=$HF_TOKEN \</a:t>
            </a:r>
            <a:b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 err="1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vllm</a:t>
            </a: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/vllm-tpu:gemma4 \</a:t>
            </a:r>
            <a:b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 -m </a:t>
            </a:r>
            <a:r>
              <a:rPr lang="en-US" sz="3200" dirty="0" err="1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vllm.entrypoints.openai.api_server</a:t>
            </a: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  <a:b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--model google/gemma-4-26B-A4B-it \</a:t>
            </a:r>
            <a:b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--tensor-parallel-size 4 \</a:t>
            </a:r>
            <a:b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--max-model-</a:t>
            </a:r>
            <a:r>
              <a:rPr lang="en-US" sz="3200" dirty="0" err="1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8192 \</a:t>
            </a:r>
            <a:b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--limit-mm-per-prompt '{"image": 1, "audio": 0}' \</a:t>
            </a:r>
            <a:b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sz="3200" dirty="0" err="1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disable_chunked_mm_input</a:t>
            </a: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  <a:b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--enable-auto-tool-choice \</a:t>
            </a:r>
            <a:b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--tool-call-parser gemma4 \</a:t>
            </a:r>
            <a:b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--host 0.0.0.0 \</a:t>
            </a:r>
            <a:b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solidFill>
                  <a:srgbClr val="EA433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--port 8000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317F4E-C3CF-7E06-4341-2638F61A86C6}"/>
              </a:ext>
            </a:extLst>
          </p:cNvPr>
          <p:cNvCxnSpPr>
            <a:cxnSpLocks/>
          </p:cNvCxnSpPr>
          <p:nvPr/>
        </p:nvCxnSpPr>
        <p:spPr>
          <a:xfrm flipH="1">
            <a:off x="15094388" y="1363844"/>
            <a:ext cx="1765005" cy="0"/>
          </a:xfrm>
          <a:prstGeom prst="straightConnector1">
            <a:avLst/>
          </a:prstGeom>
          <a:ln w="38100">
            <a:solidFill>
              <a:srgbClr val="2B82F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453EA6-DA04-2A81-15AC-7E1E2D1E8AA1}"/>
              </a:ext>
            </a:extLst>
          </p:cNvPr>
          <p:cNvCxnSpPr>
            <a:cxnSpLocks/>
          </p:cNvCxnSpPr>
          <p:nvPr/>
        </p:nvCxnSpPr>
        <p:spPr>
          <a:xfrm flipH="1">
            <a:off x="14664939" y="8003656"/>
            <a:ext cx="1517814" cy="0"/>
          </a:xfrm>
          <a:prstGeom prst="straightConnector1">
            <a:avLst/>
          </a:prstGeom>
          <a:ln w="38100">
            <a:solidFill>
              <a:srgbClr val="EA43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91367E9-5F16-5F87-BDF8-B24D938DEA84}"/>
              </a:ext>
            </a:extLst>
          </p:cNvPr>
          <p:cNvSpPr txBox="1"/>
          <p:nvPr/>
        </p:nvSpPr>
        <p:spPr>
          <a:xfrm>
            <a:off x="17092704" y="1040677"/>
            <a:ext cx="640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SSH into the VM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D824C-65EC-B3CC-25E1-45D6E0447E17}"/>
              </a:ext>
            </a:extLst>
          </p:cNvPr>
          <p:cNvSpPr txBox="1"/>
          <p:nvPr/>
        </p:nvSpPr>
        <p:spPr>
          <a:xfrm>
            <a:off x="16455356" y="7680490"/>
            <a:ext cx="8144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EA4335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Download Gemma 4 Docker image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67C3A3-BD21-39DD-26CF-B2992C2C8504}"/>
              </a:ext>
            </a:extLst>
          </p:cNvPr>
          <p:cNvSpPr/>
          <p:nvPr/>
        </p:nvSpPr>
        <p:spPr>
          <a:xfrm>
            <a:off x="520390" y="12445293"/>
            <a:ext cx="3711368" cy="1121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006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981FDD63-6BA0-7134-AC82-ADB86DEDF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>
            <a:extLst>
              <a:ext uri="{FF2B5EF4-FFF2-40B4-BE49-F238E27FC236}">
                <a16:creationId xmlns:a16="http://schemas.microsoft.com/office/drawing/2014/main" id="{4DF32310-5265-0B92-75B8-EE75140A69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492" y="488038"/>
            <a:ext cx="21862800" cy="10095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rgbClr val="2B82FB"/>
                </a:solidFill>
              </a:rPr>
              <a:t>Inference Gemma 4 on TPU</a:t>
            </a:r>
            <a:endParaRPr sz="5400" dirty="0">
              <a:solidFill>
                <a:srgbClr val="2B82FB"/>
              </a:solidFill>
            </a:endParaRPr>
          </a:p>
        </p:txBody>
      </p:sp>
      <p:sp>
        <p:nvSpPr>
          <p:cNvPr id="162" name="Google Shape;162;p23">
            <a:extLst>
              <a:ext uri="{FF2B5EF4-FFF2-40B4-BE49-F238E27FC236}">
                <a16:creationId xmlns:a16="http://schemas.microsoft.com/office/drawing/2014/main" id="{37EDD718-C70E-B8A2-33E1-AEFDBB6DD5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0498" y="1935216"/>
            <a:ext cx="22603010" cy="106555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ct val="80000"/>
              <a:buNone/>
            </a:pPr>
            <a:r>
              <a:rPr lang="en-US" sz="3200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Step 1: </a:t>
            </a:r>
            <a:r>
              <a:rPr lang="en-US" sz="3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Clone or download the below repository</a:t>
            </a:r>
          </a:p>
          <a:p>
            <a:pPr marL="0" indent="0">
              <a:buSzPct val="80000"/>
              <a:buNone/>
            </a:pPr>
            <a:r>
              <a:rPr lang="en-US" sz="32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https://github.com/NSTiwari/Gemma-4-on-TPU</a:t>
            </a: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r>
              <a:rPr lang="en-US" sz="3200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Step 2: </a:t>
            </a:r>
            <a:r>
              <a:rPr lang="en-US" sz="3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Navigate to the directory</a:t>
            </a:r>
          </a:p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r>
              <a:rPr lang="en-US" sz="3200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Step 3: Edit External IP address</a:t>
            </a:r>
          </a:p>
          <a:p>
            <a:pPr marL="0" indent="0">
              <a:buSzPct val="80000"/>
              <a:buNone/>
            </a:pPr>
            <a:endParaRPr lang="en-US" sz="3200" b="1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b="1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r>
              <a:rPr lang="en-US" sz="3200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Step 4: Start the Python server</a:t>
            </a: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b="1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r>
              <a:rPr lang="en-US" sz="3200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Step 5: Start inferencing Gemma 4 on Cloud TPU</a:t>
            </a: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B9520D5-803E-E076-194B-7219822E7D9C}"/>
              </a:ext>
            </a:extLst>
          </p:cNvPr>
          <p:cNvSpPr/>
          <p:nvPr/>
        </p:nvSpPr>
        <p:spPr>
          <a:xfrm>
            <a:off x="890493" y="4459949"/>
            <a:ext cx="5659164" cy="8770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ea typeface="Google Sans" panose="020B0604020202020204" charset="0"/>
                <a:cs typeface="Courier New" panose="02070309020205020404" pitchFamily="49" charset="0"/>
              </a:rPr>
              <a:t>cd “Gemma-4-on-TPU”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89A6FB-C205-0543-B311-510E2F371830}"/>
              </a:ext>
            </a:extLst>
          </p:cNvPr>
          <p:cNvSpPr/>
          <p:nvPr/>
        </p:nvSpPr>
        <p:spPr>
          <a:xfrm>
            <a:off x="890492" y="6385918"/>
            <a:ext cx="14611778" cy="8770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ea typeface="Google Sans" panose="020B0604020202020204" charset="0"/>
                <a:cs typeface="Courier New" panose="02070309020205020404" pitchFamily="49" charset="0"/>
              </a:rPr>
              <a:t>Replace </a:t>
            </a:r>
            <a:r>
              <a:rPr lang="en-US" sz="3600" b="1" dirty="0">
                <a:solidFill>
                  <a:schemeClr val="tx1"/>
                </a:solidFill>
                <a:latin typeface="Courier New" panose="02070309020205020404" pitchFamily="49" charset="0"/>
                <a:ea typeface="Google Sans" panose="020B0604020202020204" charset="0"/>
                <a:cs typeface="Courier New" panose="02070309020205020404" pitchFamily="49" charset="0"/>
              </a:rPr>
              <a:t>YOUR_EXTERNAL_IP </a:t>
            </a:r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ea typeface="Google Sans" panose="020B0604020202020204" charset="0"/>
                <a:cs typeface="Courier New" panose="02070309020205020404" pitchFamily="49" charset="0"/>
              </a:rPr>
              <a:t>on line 583 in index.html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9E0FAF1-D6A7-C192-BAAB-DA90F97173E8}"/>
              </a:ext>
            </a:extLst>
          </p:cNvPr>
          <p:cNvSpPr/>
          <p:nvPr/>
        </p:nvSpPr>
        <p:spPr>
          <a:xfrm>
            <a:off x="890492" y="8308500"/>
            <a:ext cx="5233861" cy="8770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>
                <a:solidFill>
                  <a:schemeClr val="tx1"/>
                </a:solidFill>
                <a:latin typeface="Courier New" panose="02070309020205020404" pitchFamily="49" charset="0"/>
                <a:ea typeface="Google Sans" panose="020B0604020202020204" charset="0"/>
                <a:cs typeface="Courier New" panose="02070309020205020404" pitchFamily="49" charset="0"/>
              </a:rPr>
              <a:t>py</a:t>
            </a:r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ea typeface="Google Sans" panose="020B0604020202020204" charset="0"/>
                <a:cs typeface="Courier New" panose="02070309020205020404" pitchFamily="49" charset="0"/>
              </a:rPr>
              <a:t> –m </a:t>
            </a:r>
            <a:r>
              <a:rPr lang="en-US" sz="3600" dirty="0" err="1">
                <a:solidFill>
                  <a:schemeClr val="tx1"/>
                </a:solidFill>
                <a:latin typeface="Courier New" panose="02070309020205020404" pitchFamily="49" charset="0"/>
                <a:ea typeface="Google Sans" panose="020B0604020202020204" charset="0"/>
                <a:cs typeface="Courier New" panose="02070309020205020404" pitchFamily="49" charset="0"/>
              </a:rPr>
              <a:t>http.server</a:t>
            </a:r>
            <a:endParaRPr lang="en-US" sz="3600" dirty="0">
              <a:solidFill>
                <a:schemeClr val="tx1"/>
              </a:solidFill>
              <a:latin typeface="Courier New" panose="02070309020205020404" pitchFamily="49" charset="0"/>
              <a:ea typeface="Google Sans" panose="020B0604020202020204" charset="0"/>
              <a:cs typeface="Courier New" panose="020703090202050204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26FE09-DC41-C6F3-C11E-72D33B58381C}"/>
              </a:ext>
            </a:extLst>
          </p:cNvPr>
          <p:cNvSpPr/>
          <p:nvPr/>
        </p:nvSpPr>
        <p:spPr>
          <a:xfrm>
            <a:off x="890492" y="10128000"/>
            <a:ext cx="6555337" cy="8770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ea typeface="Google Sans" panose="020B0604020202020204" charset="0"/>
                <a:cs typeface="Courier New" panose="02070309020205020404" pitchFamily="49" charset="0"/>
              </a:rPr>
              <a:t>https://localhost:3000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4B8531-7FD7-4DF2-7A16-68B34DB0D852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288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>
          <a:extLst>
            <a:ext uri="{FF2B5EF4-FFF2-40B4-BE49-F238E27FC236}">
              <a16:creationId xmlns:a16="http://schemas.microsoft.com/office/drawing/2014/main" id="{9AAECCA8-4F58-4FAC-41FD-73BA1D88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>
            <a:extLst>
              <a:ext uri="{FF2B5EF4-FFF2-40B4-BE49-F238E27FC236}">
                <a16:creationId xmlns:a16="http://schemas.microsoft.com/office/drawing/2014/main" id="{DE48A005-4B36-0118-D0AC-7A3A2164DC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303" y="6054976"/>
            <a:ext cx="12287100" cy="34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B82FB"/>
                </a:solidFill>
              </a:rPr>
              <a:t>Resources</a:t>
            </a:r>
            <a:endParaRPr dirty="0">
              <a:solidFill>
                <a:srgbClr val="2B82FB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3F169C-6785-8DDE-7ED3-6E5CA95BEEDA}"/>
              </a:ext>
            </a:extLst>
          </p:cNvPr>
          <p:cNvSpPr/>
          <p:nvPr/>
        </p:nvSpPr>
        <p:spPr>
          <a:xfrm>
            <a:off x="620079" y="978193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546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F9BA11D5-C327-431B-A88F-73D77AE2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>
            <a:extLst>
              <a:ext uri="{FF2B5EF4-FFF2-40B4-BE49-F238E27FC236}">
                <a16:creationId xmlns:a16="http://schemas.microsoft.com/office/drawing/2014/main" id="{5DC40AE5-4B0B-88D0-717E-5A0B961366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492" y="115716"/>
            <a:ext cx="218628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rgbClr val="2B82FB"/>
                </a:solidFill>
              </a:rPr>
              <a:t>Resources</a:t>
            </a:r>
            <a:endParaRPr sz="5400" dirty="0">
              <a:solidFill>
                <a:srgbClr val="2B82FB"/>
              </a:solidFill>
            </a:endParaRPr>
          </a:p>
        </p:txBody>
      </p:sp>
      <p:sp>
        <p:nvSpPr>
          <p:cNvPr id="162" name="Google Shape;162;p23">
            <a:extLst>
              <a:ext uri="{FF2B5EF4-FFF2-40B4-BE49-F238E27FC236}">
                <a16:creationId xmlns:a16="http://schemas.microsoft.com/office/drawing/2014/main" id="{7A7581BC-15AF-A237-8AA8-2E3AA37206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0492" y="1025466"/>
            <a:ext cx="22603010" cy="109932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70000"/>
            </a:pPr>
            <a:r>
              <a:rPr lang="en-US" sz="3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Inference Gemma 4 on Browser</a:t>
            </a:r>
            <a:br>
              <a:rPr lang="en-US" sz="3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US" sz="32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https://github.com/NSTiwari/Gemma-4-on-Browser</a:t>
            </a: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70000"/>
            </a:pPr>
            <a:r>
              <a:rPr lang="en-US" sz="3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Gemma Cookbook</a:t>
            </a:r>
            <a:br>
              <a:rPr lang="en-US" sz="3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US" sz="32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https://github.com/google-gemini/gemma-cookbook</a:t>
            </a: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70000"/>
            </a:pPr>
            <a:r>
              <a:rPr lang="en-US" sz="3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Gemma 4 official documentation</a:t>
            </a:r>
            <a:br>
              <a:rPr lang="en-US" sz="3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US" sz="32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https://ai.google.dev/gemma/docs/core/model_card_4</a:t>
            </a: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70000"/>
            </a:pP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70000"/>
            </a:pPr>
            <a:r>
              <a:rPr lang="en-US" sz="3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Serve and inference Gemma 4 26B-A4B-it on Cloud TPU</a:t>
            </a:r>
            <a:br>
              <a:rPr lang="en-US" sz="3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US" sz="32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https://medium.com/google-developer-experts/serve-and-inference-gemma-4-on-tpu-ae7da212ddd4</a:t>
            </a: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70000"/>
            </a:pP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70000"/>
            </a:pPr>
            <a:r>
              <a:rPr lang="en-US" sz="3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Google AI Edge</a:t>
            </a:r>
            <a:br>
              <a:rPr lang="en-US" sz="32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US" sz="3200" dirty="0">
                <a:solidFill>
                  <a:srgbClr val="2B82FB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https://ai.google.dev/edge</a:t>
            </a: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80000"/>
            </a:pP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80000"/>
            </a:pP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80000"/>
            </a:pP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80000"/>
            </a:pP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80000"/>
            </a:pP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80000"/>
            </a:pPr>
            <a:endParaRPr lang="en-US" sz="3200" dirty="0">
              <a:solidFill>
                <a:srgbClr val="2B82FB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indent="-457200">
              <a:buSzPct val="80000"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indent="0">
              <a:buSzPct val="80000"/>
              <a:buNone/>
            </a:pPr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571500" indent="-571500"/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endParaRPr lang="en-US" sz="3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lang="en-US" sz="3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lang="en-US" sz="3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lang="en-US" sz="3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lang="en-US" sz="3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-457200"/>
            <a:endParaRPr lang="en-US" sz="3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24975-C57A-207F-DD9A-2E4D1C8374BE}"/>
              </a:ext>
            </a:extLst>
          </p:cNvPr>
          <p:cNvSpPr/>
          <p:nvPr/>
        </p:nvSpPr>
        <p:spPr>
          <a:xfrm>
            <a:off x="520390" y="12057319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5660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>
            <a:spLocks noGrp="1"/>
          </p:cNvSpPr>
          <p:nvPr>
            <p:ph type="title"/>
          </p:nvPr>
        </p:nvSpPr>
        <p:spPr>
          <a:xfrm>
            <a:off x="2941435" y="4449200"/>
            <a:ext cx="12287100" cy="34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You.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094459-109B-97DD-757E-CD4098585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8599" y="5593309"/>
            <a:ext cx="6337687" cy="5848417"/>
          </a:xfrm>
          <a:prstGeom prst="rect">
            <a:avLst/>
          </a:prstGeom>
        </p:spPr>
      </p:pic>
      <p:pic>
        <p:nvPicPr>
          <p:cNvPr id="7" name="Picture 2" descr="Github Logo - Free social media icons">
            <a:extLst>
              <a:ext uri="{FF2B5EF4-FFF2-40B4-BE49-F238E27FC236}">
                <a16:creationId xmlns:a16="http://schemas.microsoft.com/office/drawing/2014/main" id="{5816C7AE-76B1-34B5-3196-F137FF10F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104" y="10254411"/>
            <a:ext cx="1101663" cy="110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edium - Free social media icons">
            <a:extLst>
              <a:ext uri="{FF2B5EF4-FFF2-40B4-BE49-F238E27FC236}">
                <a16:creationId xmlns:a16="http://schemas.microsoft.com/office/drawing/2014/main" id="{A7FBD6EB-03DE-21C9-36EE-C25B8169B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103" y="7704309"/>
            <a:ext cx="1101663" cy="110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7F96F85-7ED2-FE27-F35B-806C6B9E5BCE}"/>
              </a:ext>
            </a:extLst>
          </p:cNvPr>
          <p:cNvSpPr/>
          <p:nvPr/>
        </p:nvSpPr>
        <p:spPr>
          <a:xfrm>
            <a:off x="4762487" y="10421279"/>
            <a:ext cx="4411980" cy="855075"/>
          </a:xfrm>
          <a:prstGeom prst="roundRect">
            <a:avLst/>
          </a:prstGeom>
          <a:solidFill>
            <a:srgbClr val="2B82FB"/>
          </a:solidFill>
          <a:ln>
            <a:solidFill>
              <a:srgbClr val="2B82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github.com/NSTiwari</a:t>
            </a:r>
            <a:endParaRPr lang="en-IN" sz="3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58CCD0-E861-89C0-C657-86029B06A768}"/>
              </a:ext>
            </a:extLst>
          </p:cNvPr>
          <p:cNvSpPr/>
          <p:nvPr/>
        </p:nvSpPr>
        <p:spPr>
          <a:xfrm>
            <a:off x="4700436" y="7894700"/>
            <a:ext cx="6035040" cy="855075"/>
          </a:xfrm>
          <a:prstGeom prst="roundRect">
            <a:avLst/>
          </a:prstGeom>
          <a:solidFill>
            <a:srgbClr val="2B82FB"/>
          </a:solidFill>
          <a:ln>
            <a:solidFill>
              <a:srgbClr val="2B82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medium.com/@tiwarinitin1999</a:t>
            </a:r>
            <a:endParaRPr lang="en-IN" sz="3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9E21FA-9818-D599-CA16-B00A4520E4F7}"/>
              </a:ext>
            </a:extLst>
          </p:cNvPr>
          <p:cNvSpPr/>
          <p:nvPr/>
        </p:nvSpPr>
        <p:spPr>
          <a:xfrm>
            <a:off x="4762487" y="9140335"/>
            <a:ext cx="6035040" cy="855075"/>
          </a:xfrm>
          <a:prstGeom prst="roundRect">
            <a:avLst/>
          </a:prstGeom>
          <a:solidFill>
            <a:srgbClr val="2B82FB"/>
          </a:solidFill>
          <a:ln>
            <a:solidFill>
              <a:srgbClr val="2B82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twitter.com/@NSTiwari21</a:t>
            </a:r>
            <a:endParaRPr lang="en-IN" sz="3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08AAC5-856D-611F-1E8F-1EBD6F3130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104" y="8977239"/>
            <a:ext cx="1101663" cy="1088310"/>
          </a:xfrm>
          <a:prstGeom prst="rect">
            <a:avLst/>
          </a:prstGeom>
        </p:spPr>
      </p:pic>
      <p:pic>
        <p:nvPicPr>
          <p:cNvPr id="1026" name="Picture 2" descr="App, b/w, linkedin, logo, media, popular, social icon - Free download">
            <a:extLst>
              <a:ext uri="{FF2B5EF4-FFF2-40B4-BE49-F238E27FC236}">
                <a16:creationId xmlns:a16="http://schemas.microsoft.com/office/drawing/2014/main" id="{42F03B3D-33B0-ACDF-3F44-B6D046815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699" y="6399153"/>
            <a:ext cx="1136067" cy="113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327618-5081-A9BB-7DB6-38236FCC7261}"/>
              </a:ext>
            </a:extLst>
          </p:cNvPr>
          <p:cNvSpPr/>
          <p:nvPr/>
        </p:nvSpPr>
        <p:spPr>
          <a:xfrm>
            <a:off x="4762487" y="6539648"/>
            <a:ext cx="6035040" cy="855075"/>
          </a:xfrm>
          <a:prstGeom prst="roundRect">
            <a:avLst/>
          </a:prstGeom>
          <a:solidFill>
            <a:srgbClr val="2B82FB"/>
          </a:solidFill>
          <a:ln>
            <a:solidFill>
              <a:srgbClr val="2B82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linkedin.com/in/</a:t>
            </a:r>
            <a:r>
              <a:rPr lang="en-US" sz="3200" dirty="0" err="1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tiwari-nitin</a:t>
            </a:r>
            <a:endParaRPr lang="en-IN" sz="3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2C411B-0350-2879-FABF-10114DFDB917}"/>
              </a:ext>
            </a:extLst>
          </p:cNvPr>
          <p:cNvSpPr/>
          <p:nvPr/>
        </p:nvSpPr>
        <p:spPr>
          <a:xfrm>
            <a:off x="760256" y="579665"/>
            <a:ext cx="3860224" cy="15098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perts Master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DB4437"/>
      </a:accent2>
      <a:accent3>
        <a:srgbClr val="3F3F3F"/>
      </a:accent3>
      <a:accent4>
        <a:srgbClr val="254A89"/>
      </a:accent4>
      <a:accent5>
        <a:srgbClr val="7B261F"/>
      </a:accent5>
      <a:accent6>
        <a:srgbClr val="232323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</TotalTime>
  <Words>3464</Words>
  <Application>Microsoft Office PowerPoint</Application>
  <PresentationFormat>Custom</PresentationFormat>
  <Paragraphs>498</Paragraphs>
  <Slides>72</Slides>
  <Notes>71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7" baseType="lpstr">
      <vt:lpstr>Google Sans</vt:lpstr>
      <vt:lpstr>Calibri</vt:lpstr>
      <vt:lpstr>Courier New</vt:lpstr>
      <vt:lpstr>Arial</vt:lpstr>
      <vt:lpstr>Experts Master</vt:lpstr>
      <vt:lpstr>The World in the Age of AI:  Opportunities, Challenges, and the Future</vt:lpstr>
      <vt:lpstr>$whoami</vt:lpstr>
      <vt:lpstr>Content</vt:lpstr>
      <vt:lpstr>The World in the Age of AI</vt:lpstr>
      <vt:lpstr>What is AI?</vt:lpstr>
      <vt:lpstr>AI You Already Use Every Day</vt:lpstr>
      <vt:lpstr>How Do Gemini and ChatGPT Work?</vt:lpstr>
      <vt:lpstr>Generative AI: Creating Something New</vt:lpstr>
      <vt:lpstr>Opportunities</vt:lpstr>
      <vt:lpstr>Opportunities for You</vt:lpstr>
      <vt:lpstr>Opportunities for the World</vt:lpstr>
      <vt:lpstr>Jobs Are Changing</vt:lpstr>
      <vt:lpstr>Challenges</vt:lpstr>
      <vt:lpstr>Hallucinations: Confidently Wrong</vt:lpstr>
      <vt:lpstr>Bias: Unfair Patterns</vt:lpstr>
      <vt:lpstr>Deepfakes and Misinformation</vt:lpstr>
      <vt:lpstr>Privacy, Jobs and Over-reliance</vt:lpstr>
      <vt:lpstr>The Future</vt:lpstr>
      <vt:lpstr>How We Got Here</vt:lpstr>
      <vt:lpstr>What’s Next</vt:lpstr>
      <vt:lpstr>How to Get Ready</vt:lpstr>
      <vt:lpstr>Sketch2Runway: Gen AI in Fashion</vt:lpstr>
      <vt:lpstr>Content</vt:lpstr>
      <vt:lpstr>Introduction</vt:lpstr>
      <vt:lpstr>Introduction</vt:lpstr>
      <vt:lpstr>AI in Fashion</vt:lpstr>
      <vt:lpstr>AI in Fashion</vt:lpstr>
      <vt:lpstr>PowerPoint Presentation</vt:lpstr>
      <vt:lpstr>Fashion Industry using AI</vt:lpstr>
      <vt:lpstr>Google Cloud  Gen Media on Vertex AI</vt:lpstr>
      <vt:lpstr>Google Cloud        Gen Media</vt:lpstr>
      <vt:lpstr>Fashion Sketch2Runway</vt:lpstr>
      <vt:lpstr>Fashion Sketch2Runway</vt:lpstr>
      <vt:lpstr>**This project was featured by the official handle of Google AI for Developers**</vt:lpstr>
      <vt:lpstr>Fashion Sketch2Runway – Pipeline</vt:lpstr>
      <vt:lpstr>Project Demonstration</vt:lpstr>
      <vt:lpstr>Steps to Install</vt:lpstr>
      <vt:lpstr>Demonstration</vt:lpstr>
      <vt:lpstr>Resources</vt:lpstr>
      <vt:lpstr>Resources</vt:lpstr>
      <vt:lpstr>WebGemma: On-device AI in the Browser</vt:lpstr>
      <vt:lpstr>Content</vt:lpstr>
      <vt:lpstr>Vision Language Models</vt:lpstr>
      <vt:lpstr>Vision Language Models</vt:lpstr>
      <vt:lpstr>Vision Language Models</vt:lpstr>
      <vt:lpstr>Architecture of a typical VLM</vt:lpstr>
      <vt:lpstr>Example: Contrastive Pre-training</vt:lpstr>
      <vt:lpstr>Google’s open VLMs</vt:lpstr>
      <vt:lpstr>Google’s Open VLMS - History</vt:lpstr>
      <vt:lpstr>PaliGemma 2 Mix</vt:lpstr>
      <vt:lpstr>Zero-shot Object Detection</vt:lpstr>
      <vt:lpstr>Instance Segmentation</vt:lpstr>
      <vt:lpstr>How does it work?</vt:lpstr>
      <vt:lpstr>Gemma 4</vt:lpstr>
      <vt:lpstr>Gemma 4</vt:lpstr>
      <vt:lpstr>Matryoshka Transformer (MatFormer)</vt:lpstr>
      <vt:lpstr>PowerPoint Presentation</vt:lpstr>
      <vt:lpstr>Bonus: Learn how to quantize and convert PaliGemma 2 to ONNX</vt:lpstr>
      <vt:lpstr>Hands-on:  Inference Gemma 4 on the browser</vt:lpstr>
      <vt:lpstr>Steps to get started:</vt:lpstr>
      <vt:lpstr>WebGemma</vt:lpstr>
      <vt:lpstr>PowerPoint Presentation</vt:lpstr>
      <vt:lpstr>PowerPoint Presentation</vt:lpstr>
      <vt:lpstr>PowerPoint Presentation</vt:lpstr>
      <vt:lpstr>Serve Gemma 4 on TPU</vt:lpstr>
      <vt:lpstr>Gemma 4 on TPU</vt:lpstr>
      <vt:lpstr>Serve Gemma 4 on TPU</vt:lpstr>
      <vt:lpstr>PowerPoint Presentation</vt:lpstr>
      <vt:lpstr>Inference Gemma 4 on TPU</vt:lpstr>
      <vt:lpstr>Resources</vt:lpstr>
      <vt:lpstr>Resources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Management &amp; ML using Google BigQuery</dc:title>
  <dc:creator>Nitin Tiwari</dc:creator>
  <cp:lastModifiedBy>Nitin Shivram  Tiwari</cp:lastModifiedBy>
  <cp:revision>1022</cp:revision>
  <dcterms:modified xsi:type="dcterms:W3CDTF">2026-10-28T02:48:07Z</dcterms:modified>
</cp:coreProperties>
</file>